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278b642-85de-f24b-ac70-4512de1cb5c0}">
          <p14:sldIdLst>
            <p14:sldId id="256"/>
            <p14:sldId id="257"/>
            <p14:sldId id="258"/>
          </p14:sldIdLst>
        </p14:section>
        <p14:section name="Dados e método" id="{7979d1fd-baa5-4cab-e5ca-ca26e0e0a81b}">
          <p14:sldIdLst>
            <p14:sldId id="259"/>
            <p14:sldId id="260"/>
            <p14:sldId id="261"/>
            <p14:sldId id="262"/>
            <p14:sldId id="263"/>
          </p14:sldIdLst>
        </p14:section>
        <p14:section name="Resultados" id="{9e72fb94-bb67-a1f6-3760-f35fb81469f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xploração" id="{405b879e-b1de-f0d3-7c2f-5efc285283cb}">
          <p14:sldIdLst>
            <p14:sldId id="274"/>
            <p14:sldId id="275"/>
          </p14:sldIdLst>
        </p14:section>
        <p14:section name="Conclusão" id="{f7ec4850-2577-614b-b820-5cde7b8612fd}">
          <p14:sldIdLst>
            <p14:sldId id="276"/>
            <p14:sldId id="277"/>
            <p14:sldId id="278"/>
          </p14:sldIdLst>
        </p14:section>
        <p14:section name="Apêndice" id="{ba198852-8d0f-b86b-e735-0821d64d01f3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
Bom dia. A pergunta deste MVP é simples e tem cara de manchete: a geração Z bebe menos? A indústria de bebidas já aposta que sim e investe em linhas sem álcool. Eu fui verificar com os microdados oficiais do Ministério da Saúde, o Vigitel, e montei um pipeline de dados no Databricks para responder.
Spoiler: na mesma idade, não. O que muda é outra coisa: homens e mulheres jovens estão ficando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 de negócio (1 min).
O decisor é a área de estratégia de uma empresa de bebidas. São duas decisões. A primeira: posicionar a linha sem álcool como nicho, para jovens de alta escolaridade e renda, ou como produto de massa. A segunda, que surgiu ao longo do trabalho: tratar a demanda jovem como estrutural, que acompanha essas pessoas quando envelhecem, ou como uma fase.
O custo do erro é dos dois lados: subestimar a tendência perde mercado; superestimar gasta com distribuição sem demanda. Para isso eu preciso saber não só SE os jovens bebem menos, mas QUEM bebe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Hipótese e perguntas (1 min).
A hipótese: na mesma idade, cada geração bebe em excesso menos que a anterior, nos dois sexos, em todas as classes, e isso não é só uma tendência da época.
Ela se desdobra em cinco perguntas, que vou responder uma a uma. Uma definição importante: "consumo abusivo" é o indicador oficial do Ministério: cinco ou mais doses para homens, quatro ou mais para mulheres, numa mesma ocasião, nos últimos 30 dias. Não mede dependência; mede episódios de exagero.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e pipeline (1 min 30 s).
A base é o Vigitel, o inquérito telefônico anual do Ministério da Saúde nas 27 capitais: 833 mil entrevistas de 2006 a 2024, num único arquivo harmonizado publicado em agosto de 2026.
O pipeline segue a arquitetura em camadas no Databricks: o ZIP oficial vai para um Volume, conferido pelo SHA-256; a bronze é uma cópia fiel das 486 colunas; a silver aplica as regras S1 a S11, que vêm das decisões de tratamento; a gold é um modelo estrela, com a entrevista como fato e seis dimensões; depois vêm 16 regras de qualidade, todas sem violação, e a análise.
Uso as edições de 2010 em diante porque foi quando a pergunta de doses passou a ser "cinco ou mais"; antes era "mais do que cinco".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Série histórica (1 min).
Este é o primeiro olhar. A linha azul são os jovens de 18 a 24, a laranja, os adultos de 35 a 44. Comparando 2010 com 2024, os jovens ficam praticamente iguais: 21,9 e 22,7%.
Só que a comparação entre anos tem três armadilhas: não existe 2022; em 2023 e 2024 a pesquisa passou a ligar para celular; e em 2024 mudou a pergunta que abre o bloco de álcool. Ou seja, comparar 2010 com 2024 mistura mudança de comportamento com mudança de método. Isso me levou à principal decisão do trabalho,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Decisão-chave (1 min 30 s).
Em vez de comparar anos, eu comparo gerações na mesma idade. A geração é o ano da pesquisa menos a idade: millennials nascidos de 1986 a 1992, zillennials, a geração de transição, de 1993 a 1998, e a geração Z de 1999 a 2006, sempre observados aos 18-24 anos.
O gráfico mostra quantos jovens de cada geração foram entrevistados em cada edição, e a linha laranja mostra a entrada do celular.
Duas vantagens: juntando vários anos por geração, a margem de erro cai de três para um ponto; e a comparação millennials contra zillennials é toda feita por telefone fixo, sem mudança de método. Essa foi uma das 14 decisões de tratamento, todas registradas com alternativas e motivos no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Padronização pela idade (1 min 30 s).
Fixar a faixa de 18 a 24 anos não basta. Como a série começa em 2010 e termina em 2024, os millennials aparecem sobretudo aos 22, 23 e 24 anos, e a geração Z sobretudo aos 18 e 19. Do peso dos millennials, só 4% vem dos jovens de 18 anos; na geração Z, 29%.
O gráfico da esquerda mostra por que isso importa: o consumo abusivo sobe com a idade, de cerca de 14% aos 18 para 27% aos 24. Sem corrigir, a geração Z parece beber menos só porque foi entrevistada mais nova.
A correção é uma padronização direta: calculo a prevalência de cada idade e tiro a média das sete, com o mesmo peso para todas as gerações. Essa decisão, a D14, entrou na revisão da análise e mudou o resultado principal, como vocês vão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Limitação do método (1 min).
Em 2023 o Vigitel entrevistou metade por fixo e metade por celular, e isso permite uma comparação no mesmo ano: quem respondeu pelo celular declarou 27% de consumo abusivo, contra 15,5% no fixo.
Parte disso é que o fixo alcança outro público, mais velho. Parte é que, no celular, a pessoa responde sozinha, sem constrangimento. O peso amostral não corrige isso.
Por isso, mais adiante, mostro sensibilidades: por exemplo, a geração Z só com entrevistas por fixo. Como o celular tende a aumentar o consumo declarado, a sensibilidade só por fixo mostra quanto do resultado pode vir do modo de coleta.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os resultados, pergunta por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 (1 min).
Na mesma idade, os millennials tinham 21,1% de consumo abusivo; os zillennials, 22,2%; a geração Z, 22,3%. A diferença da geração Z para os millennials é de mais 1,1 ponto, e o intervalo inclui o zero: não há queda.
O círculo branco é a leitura sem padronizar, a da primeira versão deste trabalho: ali aparecia uma queda de 2,1 pontos. Ela vinha de a geração Z ter sido entrevistada mais nova.
O losango é a média padronizada também pela escolaridade dos millennials, e quase não muda: a escolaridade não explica nada aqui.
Mas o total esconde dois movimentos opostos,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P4, o achado central (1 min 30 s).
Este é o slide mais importante. O total estável esconde dois movimentos opostos. Entre os homens, o consumo abusivo cai de 28,1% para 24,0%: quatro pontos. Entre as mulheres, sobe de 14,1% para 20,5%: mais de seis pontos.
A distância entre os sexos, que era de 14 pontos entre os millennials, caiu para 3,5 na geração Z. Para o negócio, isso muda o público: o "jovem que bebe menos" é, no máximo, o homem jovem; a mulher jovem é um público crescente entre quem bebe.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Decomposição (1 min).
Separei o consumo abusivo em duas partes: quantos jovens bebem pelo menos uma vez por mês, em cinza, e, entre os que bebem, quantos exageram, em azul ou laranja. Tudo padronizado pela idade.
Nos homens, a proporção que bebe quase não muda; o que cai é o exagero entre quem bebe. Nas mulheres, o exagero entre quem bebe é estável; o que sobe é a proporção de mulheres que bebem.
Implicação: o homem jovem não abandonou o álcool, ele modera um pouco. A mulher jovem entrou no consumo.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 (1 min).
Por escolaridade, a proxy de classe social, a geração Z fica de 0,6 a 2 pontos acima dos millennials nas três faixas, e nenhuma diferença é significativa. A sensibilidade sem os casos em que o Ministério estimou a escolaridade dá o mesmo resultado.
Leitura para a decisão de nicho ou massa: não há queda em nenhuma faixa. Então não há um nicho de jovens escolarizados que bebe menos, mas também não há uma queda de massa. A diferença relevante não é de classe, é de sexo.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P3, parte 1 (1 min).
Uma pergunta natural: e se todo mundo mudou no mesmo período? Comparei os jovens com os adultos de 35 a 44 anos nas mesmas edições em que cada geração foi observada, os dois grupos padronizados pela idade. Os jovens subiram 1,1 ponto; os adultos, 3,8. A diferença das diferenças é de menos 2,7 pontos, e o intervalo não inclui o zero.
Então a época puxou o consumo para cima, e os jovens acompanharam menos. É um efeito de geração relativo, não uma queda absoluta.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P3, parte 2 (1 min).
Acompanhei cada geração ao envelhecer, padronizando pela idade dentro de cada faixa. Os homens zillennials ficam cerca de 1,4 ponto abaixo dos millennials tanto aos 18-24 quanto aos 25-29: as curvas são paralelas. Na versão sem padronizar, parecia que eles começavam bem abaixo e alcançavam os millennials depois, o que sugeria adiamento; com a correção, esse sinal some.
As mulheres zillennials ficam acima das millennials nas duas faixas. A geração Z ainda é jovem demais para essa comparação; é uma pergunta para as próximas edições do Vigitel.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P5 (1 min 30 s).
Para quem decide distribuição, o mapa: cada quadrado é uma capital; azul é queda do consumo abusivo da geração Z em relação aos millennials, vermelho é alta; borda preta é diferença fora da margem de erro. Nas capitais, a padronização usa três faixas de idade, porque há poucas entrevistas por idade.
Só Aracaju tem diferença clara, e com 27 capitais uma é esperada pelo acaso. Nenhuma região tem diferença significativa. Há uma tendência, dentro da margem: a maior parte do Nordeste cai, e Sul e Sudeste sobem.
Regra de leitura para um empresário: se a sua capital é inconclusiva, use o dado da sua região, que tem mais entrevistas. O detalhe com as margens está no slide do apêndice.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Robustez (1 min).
Refiz tudo em seis cenários, um para cada decisão de tratamento que poderia mudar o resultado: a base, só 18 a 21 anos, sem 2024, geração Z só por telefone fixo, sem os anos de pandemia, sem a escolaridade estimada. Cada cenário é padronizado pelas idades que todas as gerações têm.
A alta das mulheres é robusta: significativa em cinco dos seis; só com a geração Z por fixo o intervalo inclui o zero. A queda dos homens é frágil: fica entre 2,4 e 4,1 pontos e perde a significância em três cenários.
A última linha é a leitura sem padronizar: é ali que aparecia a queda total. Ela era efeito da idade, não da geração.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Veredito (1 min).
Apliquei os critérios de refutação que estão no README desde a versão 2 do objetivo; a correção pela idade mudou o cálculo, não os critérios. Critério (a): na mesma idade, a geração Z não bebe em excesso menos que os millennials. Falha. Critério (b): a queda não acontece nos dois sexos, e por escolaridade nenhuma diferença é significativa. Falha. Critério (c): os jovens subiram menos que os adultos no mesmo período. Atendido.
Então a hipótese é refutada no que tem de central. Na primeira versão, sem padronizar, eu tinha concluído que ela era só parcialmente refutada; a revisão do método mudou a conclusão, e isso é um resultado válido de MVP: o aprendizado é que a manchete "a geração Z bebe menos" não se sustenta na mesma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Exploração (1 min 30 s).
Como bônus, o Vigitel pergunta muito mais que álcool. Testei 21 características contra o consumo abusivo entre jovens, sempre ajustando por sexo e ano. Classifiquei cada uma como provável, incerta ou improvável antes de olhar os dados.
Os mais fortes, esperados: quem fuma ou usa cigarro eletrônico bebe em excesso muito mais.
O mais curioso: diagnóstico de depressão está associado a mais consumo abusivo só entre os jovens; entre os adultos, a diferença é zero. Tem amostra pequena e não passa no teste mais rigoroso, então é uma pista.
E um que contraria o senso comum: jovens com três horas ou mais de tela no lazer bebem mais em excesso, e não menos. A ideia de que a geração Z troca a balada pelo celular não aparece nos dados.
Cuidado: associação não é causa, e com 21 testes cerca de um pode dar positivo por acaso.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Destaques (45 s).
Em números brutos, para fixar: 54% dos jovens que usam cigarro eletrônico bebem em excesso, contra 20% de quem não usa. Entre os jovens com diagnóstico de depressão, 30% contra 21%. Com três horas ou mais de tela, 24% contra 18%. E quem trabalha, com renda própria, 25% contra 17%.
Para o negócio: o consumo pesado se concentra num público que também usa nicotina e passa muito tempo em telas, o que é útil para segmentação e comunicação.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Implicações (1 min 30 s).
Voltando às duas decisões. Nicho ou massa: os dados não sustentam nenhum dos dois, porque, na mesma idade, nenhuma faixa de escolaridade bebe em excesso menos. A aposta em linhas sem álcool para jovens pode até ter outras razões, mas não encontra apoio neste indicador.
O que os dados mostram são dois ajustes de rota. Primeiro, entre os homens que bebem, menos exageram: há espaço para baixo teor e moderação, com cautela, porque essa queda é frágil. Segundo, a mulher jovem é um público crescente entre quem bebe; tratar o jovem como público masculino é um erro.
Estrutural ou fase: a correção pela idade tirou o sinal de adiamento. Vale acompanhar a geração Z quando ela chegar aos 25-29.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Qualidade e próximos passos (1 min).
Sobre a qualidade: 16 regras automáticas, nenhuma violação. Quase todo vazio da base é pulo de questionário, e não dado perdido.
As limitações estão declaradas: só capitais, autodeclaração por telefone, a troca para o celular, a dificuldade de separar geração de época, e a escolaridade como substituta da renda.
Próximos passos: a execução documentada no Databricks, confirmar os achados exploratórios por geração, acompanhar a geração Z quando chegar aos 25-29, e testar apostas online assim que o Ministério publicar essa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(30 s).
Então, a geração Z bebe menos? Na mesma idade, não. Os homens bebem em excesso um pouco menos, cerca de quatro pontos, e as mulheres, seis pontos mais: os sexos estão convergindo, e não há diferença por classe social. Obrigado;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Apêndice, para perguntas sobre capitais específicas: cada linha mostra a diferença e o intervalo de 95%. Em azul, as capitais com diferença fora da margem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MVP PSP8 · Geração Z e álcool · Vigitel 2010-2024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geração Z bebe menos?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Consumo abusivo de álcool por geração nas capitais brasileiras, Vigitel 2010-2024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MVP de pipeline de dados em nuvem (Databricks) · PSP8, Prof. André Luiz Marques Serrano, EPR/FT/UnB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Guilherme Augusto Fontes Cunha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de negócio</a:t>
            </a:r>
            <a:endParaRPr lang="en-US" sz="3000" dirty="0"/>
          </a:p>
        </p:txBody>
      </p:sp>
      <p:sp>
        <p:nvSpPr>
          <p:cNvPr id="3" name="card_d1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Decisão 1: nicho ou massa?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3776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 só os jovens mais escolarizados bebem menos, a linha sem álcool é um produto premium, de nicho. Se a queda atinge todas as classes, é mercado de massa.</a:t>
            </a:r>
            <a:endParaRPr lang="en-US" sz="1500" dirty="0"/>
          </a:p>
        </p:txBody>
      </p:sp>
      <p:sp>
        <p:nvSpPr>
          <p:cNvPr id="6" name="card_d2"/>
          <p:cNvSpPr/>
          <p:nvPr/>
        </p:nvSpPr>
        <p:spPr>
          <a:xfrm>
            <a:off x="6263640" y="137160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Decisão 2: estrutural ou fase?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057400"/>
            <a:ext cx="493776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 a geração Z leva o hábito para a vida adulta, o investimento é de longo prazo. Se só adia o consumo, é uma fase de idade.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Decisor: área de estratégia e portfólio de uma empresa de bebidas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Errar para nicho numa tendência ampla: perder mercado.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Errar para massa numa tendência restrita: investir em distribuição sem demanda.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Interesse secundário: saúde pública (prevenção por geração, sexo e classe).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 e perguntas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Na mesma idade (18 a 24 anos), o consumo abusivo de álcool diminui de uma geração para a seguinte, nos dois sexos e em todas as faixas de escolaridade, e isso não é uma tendência geral da população.</a:t>
            </a:r>
            <a:endParaRPr lang="en-US" sz="1800" dirty="0"/>
          </a:p>
        </p:txBody>
      </p:sp>
      <p:sp>
        <p:nvSpPr>
          <p:cNvPr id="4" name="card_P1"/>
          <p:cNvSpPr/>
          <p:nvPr/>
        </p:nvSpPr>
        <p:spPr>
          <a:xfrm>
            <a:off x="548640" y="2514600"/>
            <a:ext cx="2057400" cy="28346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97480"/>
            <a:ext cx="16916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1691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Quanto cada geração difere da anterior, aos 18-24?</a:t>
            </a:r>
            <a:endParaRPr lang="en-US" sz="1600" dirty="0"/>
          </a:p>
        </p:txBody>
      </p:sp>
      <p:sp>
        <p:nvSpPr>
          <p:cNvPr id="7" name="card_P2"/>
          <p:cNvSpPr/>
          <p:nvPr/>
        </p:nvSpPr>
        <p:spPr>
          <a:xfrm>
            <a:off x="2816352" y="2514600"/>
            <a:ext cx="2057400" cy="28346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2697480"/>
            <a:ext cx="16916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99232" y="3520440"/>
            <a:ext cx="1691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diferença ocorre em todas as faixas de escolaridade?</a:t>
            </a:r>
            <a:endParaRPr lang="en-US" sz="1600" dirty="0"/>
          </a:p>
        </p:txBody>
      </p:sp>
      <p:sp>
        <p:nvSpPr>
          <p:cNvPr id="10" name="card_P3"/>
          <p:cNvSpPr/>
          <p:nvPr/>
        </p:nvSpPr>
        <p:spPr>
          <a:xfrm>
            <a:off x="5084064" y="2514600"/>
            <a:ext cx="2057400" cy="28346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66944" y="2697480"/>
            <a:ext cx="16916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5266944" y="3520440"/>
            <a:ext cx="1691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efeito de geração ou da época?</a:t>
            </a:r>
            <a:endParaRPr lang="en-US" sz="1600" dirty="0"/>
          </a:p>
        </p:txBody>
      </p:sp>
      <p:sp>
        <p:nvSpPr>
          <p:cNvPr id="13" name="card_P4"/>
          <p:cNvSpPr/>
          <p:nvPr/>
        </p:nvSpPr>
        <p:spPr>
          <a:xfrm>
            <a:off x="7351776" y="2514600"/>
            <a:ext cx="2057400" cy="28346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34656" y="2697480"/>
            <a:ext cx="16916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P4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3520440"/>
            <a:ext cx="1691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 igual entre homens e mulheres?</a:t>
            </a:r>
            <a:endParaRPr lang="en-US" sz="1600" dirty="0"/>
          </a:p>
        </p:txBody>
      </p:sp>
      <p:sp>
        <p:nvSpPr>
          <p:cNvPr id="16" name="card_P5"/>
          <p:cNvSpPr/>
          <p:nvPr/>
        </p:nvSpPr>
        <p:spPr>
          <a:xfrm>
            <a:off x="9619488" y="2514600"/>
            <a:ext cx="2057400" cy="28346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2697480"/>
            <a:ext cx="16916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9802368" y="3520440"/>
            <a:ext cx="1691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Quais capitais concentram as maiores diferenças?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Consumo abusivo = 5+ doses (homens) ou 4+ doses (mulheres) numa ocasião, nos últimos 30 dias (indicador oficial do Vigitel).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pipeline no Databricks</a:t>
            </a:r>
            <a:endParaRPr lang="en-US" sz="3000" dirty="0"/>
          </a:p>
        </p:txBody>
      </p:sp>
      <p:sp>
        <p:nvSpPr>
          <p:cNvPr id="3" name="etapa_0"/>
          <p:cNvSpPr/>
          <p:nvPr/>
        </p:nvSpPr>
        <p:spPr>
          <a:xfrm>
            <a:off x="54864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Site do Ministério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ZIP oficial, SHA-256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49424" y="1901952"/>
            <a:ext cx="164592" cy="274320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etapa_1"/>
          <p:cNvSpPr/>
          <p:nvPr/>
        </p:nvSpPr>
        <p:spPr>
          <a:xfrm>
            <a:off x="246888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Bronze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cópia fiel, 486 colunas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69664" y="1901952"/>
            <a:ext cx="164592" cy="274320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etapa_2"/>
          <p:cNvSpPr/>
          <p:nvPr/>
        </p:nvSpPr>
        <p:spPr>
          <a:xfrm>
            <a:off x="438912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Silver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2010+, regras S1-S11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9904" y="1901952"/>
            <a:ext cx="164592" cy="274320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etapa_3"/>
          <p:cNvSpPr/>
          <p:nvPr/>
        </p:nvSpPr>
        <p:spPr>
          <a:xfrm>
            <a:off x="630936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Gold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estrela: fato + 6 dimensões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10144" y="1901952"/>
            <a:ext cx="164592" cy="274320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etapa_4"/>
          <p:cNvSpPr/>
          <p:nvPr/>
        </p:nvSpPr>
        <p:spPr>
          <a:xfrm>
            <a:off x="822960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Qualidade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16 regras, 0 violações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930384" y="1901952"/>
            <a:ext cx="164592" cy="274320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etapa_5"/>
          <p:cNvSpPr/>
          <p:nvPr/>
        </p:nvSpPr>
        <p:spPr>
          <a:xfrm>
            <a:off x="10149840" y="1417320"/>
            <a:ext cx="1645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41280" y="1508760"/>
            <a:ext cx="14630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Análise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0" y="1938528"/>
            <a:ext cx="14630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P1-P5, sensibilidades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154680"/>
            <a:ext cx="34747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833.217</a:t>
            </a:r>
            <a:endParaRPr lang="en-US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2336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entrevistas telefônicas, 2006-2024 (18 edições; não existe 2022)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343400" y="3154680"/>
            <a:ext cx="34747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615.877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4343400" y="402336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entrevistas de 2010 em diante na análise (pergunta de doses atual)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3154680"/>
            <a:ext cx="34747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61.035</a:t>
            </a:r>
            <a:endParaRPr lang="en-US" sz="44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4023360"/>
            <a:ext cx="3474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jovens de 18 a 24 anos das três gerações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Fonte: Ministério da Saúde, Vigitel Brasil 2006-2024, base harmonizada (24/08/2026), capitais e Distrito Federal. Licença CC BY-ND 3.0. Prevalências ponderadas pelo peso oficial, normalizado por edição, e padronizadas pela idade nas comparações entre gerações.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série histórica não mostra queda entre os jovens</a:t>
            </a:r>
            <a:endParaRPr lang="en-US" sz="3000" dirty="0"/>
          </a:p>
        </p:txBody>
      </p:sp>
      <p:pic>
        <p:nvPicPr>
          <p:cNvPr id="3" name="f01_serie_faixa_etaria.png" descr="f01_serie_faixa_eta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4796"/>
            <a:ext cx="7863840" cy="3837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0" y="1463040"/>
            <a:ext cx="29718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Jovens (azul): 21,9% em 2010 e 22,7% em 2024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2022 não existe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Em 2023-2024 entra o celular e muda o filtro do questionário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2"/>
                </a:solidFill>
              </a:rPr>
              <a:t>Comparar anos mistura comportamento com método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Decisão-chave: comparar gerações, e não anos</a:t>
            </a:r>
            <a:endParaRPr lang="en-US" sz="3000" dirty="0"/>
          </a:p>
        </p:txBody>
      </p:sp>
      <p:pic>
        <p:nvPicPr>
          <p:cNvPr id="3" name="f02_cobertura_geracoes.png" descr="f02_cobertura_ger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7230"/>
            <a:ext cx="6949440" cy="31062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435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325880"/>
            <a:ext cx="32004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Millennials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709928"/>
            <a:ext cx="32004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nascidos em 1986-1992; observados aos 18-24 em 2010-2016, só fixo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863840" y="25328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2423160"/>
            <a:ext cx="32004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Zillennials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807208"/>
            <a:ext cx="32004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nascidos em 1993-1998; observados em 2011-2021, só fixo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863840" y="36301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3520440"/>
            <a:ext cx="32004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Geração Z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904488"/>
            <a:ext cx="32004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nascidos em 1999-2006; observados em 2017-2024, 33% celular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Geração = ano da pesquisa menos a idade. Sempre na mesma idade (18 a 24).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Junta vários anos por geração: margem de erro de ±1 p.p., contra ±3 de um ano isolado.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Millennials x zillennials: comparação toda por telefone fixo, sem mudança de método.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mesma idade, de fato: padronizar pela idade</a:t>
            </a:r>
            <a:endParaRPr lang="en-US" sz="3000" dirty="0"/>
          </a:p>
        </p:txBody>
      </p:sp>
      <p:pic>
        <p:nvPicPr>
          <p:cNvPr id="3" name="f03a_idade_por_geracao.png" descr="f03a_idade_por_ge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3527"/>
            <a:ext cx="7680960" cy="31679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37160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 x 29%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503920" y="2240280"/>
            <a:ext cx="3108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peso vem dos jovens de 18 anos: millennials x geração Z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937760"/>
            <a:ext cx="1106424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consumo abusivo sobe com a idade: cerca de 14% aos 18 e 27% aos 24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janela 2010-2024 mostra os millennials mais velhos e a geração Z mais nova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Correção (D14): média das 7 idades, com peso igual para cada uma, nas mesmas idades para todas as gerações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Limitação: o celular muda a resposta</a:t>
            </a:r>
            <a:endParaRPr lang="en-US" sz="3000" dirty="0"/>
          </a:p>
        </p:txBody>
      </p:sp>
      <p:pic>
        <p:nvPicPr>
          <p:cNvPr id="3" name="f12_modo_coleta_2023.png" descr="f12_modo_coleta_20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8147"/>
            <a:ext cx="6766560" cy="41103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8096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+11,5 p.p.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diferença entre celular e fixo no mesmo ano (2023), todas as idades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3383280"/>
            <a:ext cx="39319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Quem tem fixo é outro público (mais velho, casa estruturada)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celular a pessoa responde sozinha, sem a família por perto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peso amostral não corrige isso: por isso as sensibilidades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P1 a P5, robustez e veredito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P1. Na mesma idade, a geração Z não bebe menos</a:t>
            </a:r>
            <a:endParaRPr lang="en-US" sz="3000" dirty="0"/>
          </a:p>
        </p:txBody>
      </p:sp>
      <p:pic>
        <p:nvPicPr>
          <p:cNvPr id="3" name="f03_p1_geracoes.png" descr="f03_p1_ger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1957"/>
            <a:ext cx="6949440" cy="38027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 p.p.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331720"/>
            <a:ext cx="3749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geração Z em relação aos millennials, aos 18-24, padronizada pela idade (IC 95%: −1,1 a +3,3)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3291840"/>
            <a:ext cx="3749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21,1% → 22,2% → 22,3%; nenhuma diferença significativa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Sem padronizar (círculo), aparecia −2,1 p.p.: a queda vinha da idade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Padronizada também pela escolaridade (losango): quase igual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P4. Os sexos estão convergindo</a:t>
            </a:r>
            <a:endParaRPr lang="en-US" sz="3000" dirty="0"/>
          </a:p>
        </p:txBody>
      </p:sp>
      <p:pic>
        <p:nvPicPr>
          <p:cNvPr id="3" name="f04_p4_convergencia_sexos.png" descr="f04_p4_convergencia_sex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1957"/>
            <a:ext cx="6949440" cy="38027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863840" y="1463040"/>
            <a:ext cx="37490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→ 3,5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331720"/>
            <a:ext cx="3749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p.p. de distância entre homens e mulheres, de millennials para geração Z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3291840"/>
            <a:ext cx="37490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Homens: −4,0 p.p. (28,1% → 24,0%)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2"/>
                </a:solidFill>
              </a:rPr>
              <a:t>Mulheres: +6,4 p.p. (14,1% → 20,5%)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 mulheres sobem mais do que os homens caem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muda: homens moderam, mais mulheres bebem</a:t>
            </a:r>
            <a:endParaRPr lang="en-US" sz="3000" dirty="0"/>
          </a:p>
        </p:txBody>
      </p:sp>
      <p:pic>
        <p:nvPicPr>
          <p:cNvPr id="3" name="f05_decomposicao.png" descr="f05_decomposi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393" y="1188720"/>
            <a:ext cx="7798734" cy="3611880"/>
          </a:xfrm>
          <a:prstGeom prst="rect">
            <a:avLst/>
          </a:prstGeom>
        </p:spPr>
      </p:pic>
      <p:sp>
        <p:nvSpPr>
          <p:cNvPr id="4" name="card_h"/>
          <p:cNvSpPr/>
          <p:nvPr/>
        </p:nvSpPr>
        <p:spPr>
          <a:xfrm>
            <a:off x="548640" y="489204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07492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Homens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57784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Quase o mesmo tanto bebe (43% → 41%); quem bebe exagera menos (65% → 58%)</a:t>
            </a:r>
            <a:endParaRPr lang="en-US" sz="1500" dirty="0"/>
          </a:p>
        </p:txBody>
      </p:sp>
      <p:sp>
        <p:nvSpPr>
          <p:cNvPr id="7" name="card_m"/>
          <p:cNvSpPr/>
          <p:nvPr/>
        </p:nvSpPr>
        <p:spPr>
          <a:xfrm>
            <a:off x="6263640" y="489204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507492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Mulheres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557784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Mais bebem (25% → 35%); o exagero entre quem bebe fica estável (56% → 58%)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P2. Por escolaridade, nenhuma diferença significativa</a:t>
            </a:r>
            <a:endParaRPr lang="en-US" sz="3000" dirty="0"/>
          </a:p>
        </p:txBody>
      </p:sp>
      <p:pic>
        <p:nvPicPr>
          <p:cNvPr id="3" name="f06_p2_escolaridade.png" descr="f06_p2_escolar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6561"/>
            <a:ext cx="7498080" cy="281055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29184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 +0,6 a +2,0 p.p. nas três faixas, todas dentro da margem de erro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Sem os casos de escolaridade estimada pelo Ministério: mesmo resultado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Não há queda concentrada em nenhuma classe, nem queda ampla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P3. Os jovens subiram menos que a época</a:t>
            </a:r>
            <a:endParaRPr lang="en-US" sz="3000" dirty="0"/>
          </a:p>
        </p:txBody>
      </p:sp>
      <p:pic>
        <p:nvPicPr>
          <p:cNvPr id="3" name="f07_p3_jovens_x_adultos.png" descr="f07_p3_jovens_x_adul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022"/>
            <a:ext cx="6766560" cy="31469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8096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−2,7 p.p.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jovens (+1,1) em relação aos adultos de 35-44 (+3,8) no mesmo período (IC 95%: −5,1 a −0,3)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 jovens não beberam menos, mas cresceram menos que a tendência geral: um efeito relativo de geração, e não uma queda.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P3. Ao envelhecer, as curvas ficam paralelas</a:t>
            </a:r>
            <a:endParaRPr lang="en-US" sz="3000" dirty="0"/>
          </a:p>
        </p:txBody>
      </p:sp>
      <p:pic>
        <p:nvPicPr>
          <p:cNvPr id="3" name="f08_p3_envelhecimento.png" descr="f08_p3_envelheci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626" y="1234440"/>
            <a:ext cx="10646267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Homens zillennials: 1,4 p.p. abaixo dos millennials aos 18-24 (26,7% x 28,1%) e aos 25-29 (33,4% x 34,8%): curvas paralelas, sem sinal de adiamento. Mulheres zillennials acima nas duas faixas; a geração Z ainda é jovem demais.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P5. Nenhuma região muda de forma clara</a:t>
            </a:r>
            <a:endParaRPr lang="en-US" sz="3000" dirty="0"/>
          </a:p>
        </p:txBody>
      </p:sp>
      <p:pic>
        <p:nvPicPr>
          <p:cNvPr id="3" name="f09_p5_mapa_capitais.png" descr="f09_p5_mapa_capit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4564"/>
            <a:ext cx="5486400" cy="500895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71600"/>
            <a:ext cx="521208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Aracaju fora da margem de erro (−6,1 p.p.); com 27 capitais, uma é esperada só pelo acaso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Nenhuma região significativa (de −0,5 p.p. no Norte a +4,5 no Sul)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Tendência, dentro da margem: a maioria do Nordeste cai; Sul e Sudeste (exceto o Rio) sobem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Capital inconclusiva: usar a região como apoio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Robustez: alta feminina firme, queda masculina frágil</a:t>
            </a:r>
            <a:endParaRPr lang="en-US" sz="3000" dirty="0"/>
          </a:p>
        </p:txBody>
      </p:sp>
      <p:pic>
        <p:nvPicPr>
          <p:cNvPr id="3" name="f11_sensibilidades.png" descr="f11_sensibi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862"/>
            <a:ext cx="7315200" cy="37949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38160" y="1463040"/>
            <a:ext cx="347472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Seis cenários e, na última linha, a leitura sem padronizar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2"/>
                </a:solidFill>
              </a:rPr>
              <a:t>Mulheres: +5,1 a +8,1 p.p., significativa em cinco dos seis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accent1"/>
                </a:solidFill>
              </a:rPr>
              <a:t>Homens: −2,4 a −4,1 p.p.; perde a significância aos 18-21, sem 2024 e só por fixo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Sem padronizar, a queda total aparecia: era efeito da idade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Veredito: hipótese refutada</a:t>
            </a:r>
            <a:endParaRPr lang="en-US" sz="3000" dirty="0"/>
          </a:p>
        </p:txBody>
      </p:sp>
      <p:sp>
        <p:nvSpPr>
          <p:cNvPr id="3" name="criterio_0"/>
          <p:cNvSpPr/>
          <p:nvPr/>
        </p:nvSpPr>
        <p:spPr>
          <a:xfrm>
            <a:off x="548640" y="1371600"/>
            <a:ext cx="110642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18488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✗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50876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(a) A prevalência diminui da geração Z para os millennials?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Não: +1,1 p.p. (−1,1 a +3,3), na mesma idade</a:t>
            </a:r>
            <a:endParaRPr lang="en-US" sz="1500" dirty="0"/>
          </a:p>
        </p:txBody>
      </p:sp>
      <p:sp>
        <p:nvSpPr>
          <p:cNvPr id="8" name="criterio_1"/>
          <p:cNvSpPr/>
          <p:nvPr/>
        </p:nvSpPr>
        <p:spPr>
          <a:xfrm>
            <a:off x="548640" y="2697480"/>
            <a:ext cx="110642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944368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44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✗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83464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(b) A queda ocorre nos dois sexos e nas três faixas de escolaridade?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9184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Não: homens −4,0; mulheres +6,4; escolaridade sem significância</a:t>
            </a:r>
            <a:endParaRPr lang="en-US" sz="1500" dirty="0"/>
          </a:p>
        </p:txBody>
      </p:sp>
      <p:sp>
        <p:nvSpPr>
          <p:cNvPr id="13" name="criterio_2"/>
          <p:cNvSpPr/>
          <p:nvPr/>
        </p:nvSpPr>
        <p:spPr>
          <a:xfrm>
            <a:off x="548640" y="4023360"/>
            <a:ext cx="110642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70248"/>
            <a:ext cx="640080" cy="6400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16052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(c) É mais que a tendência geral (adultos de 35-44)?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617720"/>
            <a:ext cx="9692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Sim: jovens +1,1 contra adultos +3,8 (diferença de −2,7; IC −5,1 a −0,3)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mesma idade, a geração Z não bebe menos: os sexos é que convergem.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anda junto com o consumo abusivo entre jovens</a:t>
            </a:r>
            <a:endParaRPr lang="en-US" sz="3000" dirty="0"/>
          </a:p>
        </p:txBody>
      </p:sp>
      <p:pic>
        <p:nvPicPr>
          <p:cNvPr id="3" name="f13_correlatos.png" descr="f13_correla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38" y="1188720"/>
            <a:ext cx="5818163" cy="5120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75120" y="1371600"/>
            <a:ext cx="4937760" cy="4846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21 características do Vigitel, ajustadas por sexo e edição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Cigarro e vape: +38 e +34 p.p.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Depressão: +8 p.p. só entre os jovens (nos adultos, zero)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Tela 3h+/dia: +7 p.p. (o celular não substitui o bar)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Hipertensão, diabetes, inatividade: sem associação, como esperado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i="1" dirty="0">
                <a:solidFill>
                  <a:schemeClr val="accent2"/>
                </a:solidFill>
              </a:rPr>
              <a:t>Associação não é causa; com 21 testes, ~1 pode ser acaso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destaques, em números brutos</a:t>
            </a:r>
            <a:endParaRPr lang="en-US" sz="3000" dirty="0"/>
          </a:p>
        </p:txBody>
      </p:sp>
      <p:pic>
        <p:nvPicPr>
          <p:cNvPr id="3" name="f14_correlatos_destaque.png" descr="f14_correlatos_desta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3547"/>
            <a:ext cx="11064240" cy="363370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74920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94360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dos jovens que usam cigarro eletrônico bebem em excesso (20% de quem não usa)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5074920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5943600"/>
            <a:ext cx="5303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quem passa 3h+ por dia em telas no lazer (18% de quem passa menos)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 para a empresa de bebidas</a:t>
            </a:r>
            <a:endParaRPr lang="en-US" sz="3000" dirty="0"/>
          </a:p>
        </p:txBody>
      </p:sp>
      <p:sp>
        <p:nvSpPr>
          <p:cNvPr id="3" name="card_imp1"/>
          <p:cNvSpPr/>
          <p:nvPr/>
        </p:nvSpPr>
        <p:spPr>
          <a:xfrm>
            <a:off x="54864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Sem queda para apostar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306324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Na mesma idade, o jovem não bebe em excesso menos que antes, em nenhuma classe. A linha sem álcool para jovens não se apoia neste indicador.</a:t>
            </a:r>
            <a:endParaRPr lang="en-US" sz="1500" dirty="0"/>
          </a:p>
        </p:txBody>
      </p:sp>
      <p:sp>
        <p:nvSpPr>
          <p:cNvPr id="6" name="card_imp2"/>
          <p:cNvSpPr/>
          <p:nvPr/>
        </p:nvSpPr>
        <p:spPr>
          <a:xfrm>
            <a:off x="4334256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Homens moderam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057400"/>
            <a:ext cx="306324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Entre os homens que bebem, menos exageram (65% → 58%). Há espaço para baixo teor, mas a queda é frágil.</a:t>
            </a:r>
            <a:endParaRPr lang="en-US" sz="1500" dirty="0"/>
          </a:p>
        </p:txBody>
      </p:sp>
      <p:sp>
        <p:nvSpPr>
          <p:cNvPr id="9" name="card_imp3"/>
          <p:cNvSpPr/>
          <p:nvPr/>
        </p:nvSpPr>
        <p:spPr>
          <a:xfrm>
            <a:off x="8119872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Público feminino em alta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057400"/>
            <a:ext cx="3063240" cy="2697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Mais mulheres jovens bebem (25% → 35%). Comunicação e portfólio não podem tratar o público jovem como masculino.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Nicho ou massa: nenhuma classe cai, então nenhum dos dois tem base. Estrutural ou fase: sem sinal de adiamento; acompanhar a geração Z aos 25-29.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Qualidade, limitações e próximos passos</a:t>
            </a:r>
            <a:endParaRPr lang="en-US" sz="3000" dirty="0"/>
          </a:p>
        </p:txBody>
      </p:sp>
      <p:sp>
        <p:nvSpPr>
          <p:cNvPr id="3" name="card_lim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Qualidade e limitações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3776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16 regras de qualidade, nenhuma violação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Vazios são pulos do questionário, não perda de dado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capitais e Distrito Federal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Autodeclaração por telefone; celular em 2023-2024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Geração e época não se separam totalmente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Idade corrigida por padronização (D14)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Escolaridade como proxy de renda</a:t>
            </a:r>
            <a:endParaRPr lang="en-US" sz="1500" dirty="0"/>
          </a:p>
        </p:txBody>
      </p:sp>
      <p:sp>
        <p:nvSpPr>
          <p:cNvPr id="6" name="card_prox"/>
          <p:cNvSpPr/>
          <p:nvPr/>
        </p:nvSpPr>
        <p:spPr>
          <a:xfrm>
            <a:off x="6263640" y="13716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Próximos passos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057400"/>
            <a:ext cx="493776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Executar e documentar no Databricks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Confirmar os correlatos (depressão e telas) por geração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Acompanhar a geração Z aos 25-29 nas próximas edições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Testar apostas online quando a resposta de 2024 for publicada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geração Z bebe menos? Na mesma idade, não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Homens −4 p.p., mulheres +6 p.p.: os sexos convergem; sem diferença por classe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Obrigado. Perguntas?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Apêndice. P5: diferença e margem de erro por capital</a:t>
            </a:r>
            <a:endParaRPr lang="en-US" sz="3000" dirty="0"/>
          </a:p>
        </p:txBody>
      </p:sp>
      <p:pic>
        <p:nvPicPr>
          <p:cNvPr id="3" name="f10_p5_capitais.png" descr="f10_p5_capit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047" y="1143000"/>
            <a:ext cx="4753346" cy="5166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75120" y="1371600"/>
            <a:ext cx="493776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Diferença geração Z − millennials aos 18-24 anos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Azul: intervalo de 95% não inclui o zero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Cerca de 390 jovens da geração Z por capital: margem de ±5 a 6 p.p.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6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racao Z e Alcool">
  <a:themeElements>
    <a:clrScheme name="Geracao Z e Alcool">
      <a:dk1>
        <a:srgbClr val="1B1F24"/>
      </a:dk1>
      <a:lt1>
        <a:srgbClr val="FFFFFF"/>
      </a:lt1>
      <a:dk2>
        <a:srgbClr val="0F2A4A"/>
      </a:dk2>
      <a:lt2>
        <a:srgbClr val="EEF2F7"/>
      </a:lt2>
      <a:accent1>
        <a:srgbClr val="1F5FAE"/>
      </a:accent1>
      <a:accent2>
        <a:srgbClr val="EB6834"/>
      </a:accent2>
      <a:accent3>
        <a:srgbClr val="7FA7D9"/>
      </a:accent3>
      <a:accent4>
        <a:srgbClr val="B8B6AD"/>
      </a:accent4>
      <a:accent5>
        <a:srgbClr val="C0392B"/>
      </a:accent5>
      <a:accent6>
        <a:srgbClr val="2E7D32"/>
      </a:accent6>
      <a:hlink>
        <a:srgbClr val="1F5FAE"/>
      </a:hlink>
      <a:folHlink>
        <a:srgbClr val="6B4FA0"/>
      </a:folHlink>
    </a:clrScheme>
    <a:fontScheme name="Geracao Z e Alcoo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Geração Z e álcool: a geração Z bebe menos?</dc:title>
  <dc:subject>PptxGenJS Presentation</dc:subject>
  <dc:creator>Guilherme Augusto Fontes Cunha</dc:creator>
  <cp:lastModifiedBy>Guilherme Augusto Fontes Cunha</cp:lastModifiedBy>
  <cp:revision>1</cp:revision>
  <dcterms:created xsi:type="dcterms:W3CDTF">2026-10-18T20:50:12Z</dcterms:created>
  <dcterms:modified xsi:type="dcterms:W3CDTF">2026-10-18T20:50:12Z</dcterms:modified>
</cp:coreProperties>
</file>