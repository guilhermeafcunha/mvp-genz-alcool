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d78fc85-f9b5-fd4e-0982-241df3c226a4}">
          <p14:sldIdLst>
            <p14:sldId id="256"/>
            <p14:sldId id="257"/>
            <p14:sldId id="258"/>
            <p14:sldId id="259"/>
            <p14:sldId id="260"/>
          </p14:sldIdLst>
        </p14:section>
        <p14:section name="Pré-análise" id="{41dcf457-0037-8a7b-80da-87d74cbdd2c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ecisões" id="{0a82b3b7-4a68-905b-d8a0-35e0ed5b3bd2}">
          <p14:sldIdLst>
            <p14:sldId id="270"/>
            <p14:sldId id="271"/>
            <p14:sldId id="272"/>
            <p14:sldId id="273"/>
            <p14:sldId id="274"/>
          </p14:sldIdLst>
        </p14:section>
        <p14:section name="Pipeline" id="{bb3e7aca-b307-bfb9-5ffc-4a7034b1898c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Resultados" id="{cf6b8fd3-ddc2-f0dc-76c9-81951fe2d1c1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Exploração" id="{a5da90c7-20d0-818b-9264-88c52cc199c2}">
          <p14:sldIdLst>
            <p14:sldId id="293"/>
            <p14:sldId id="294"/>
          </p14:sldIdLst>
        </p14:section>
        <p14:section name="Discussão" id="{def7ece2-8c3e-c4e5-279f-94697ff97746}">
          <p14:sldIdLst>
            <p14:sldId id="295"/>
            <p14:sldId id="296"/>
            <p14:sldId id="297"/>
            <p14:sldId id="298"/>
          </p14:sldIdLst>
        </p14:section>
        <p14:section name="Limitações" id="{8fb283e3-6b8e-1fe1-2500-e12ca0d78d93}">
          <p14:sldIdLst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
Bom dia. A pergunta deste MVP tem cara de manchete: a geração Z bebe menos? Eu fui verificar com os microdados oficiais do Ministério da Saúde, o Vigitel, e montei um pipeline de dados no Databricks para responder.
Spoiler: na mesma idade, não. O que muda é outra coisa: homens e mulheres jovens estão ficando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este tema (1 min).
A motivação veio das notícias de mercado: elas dizem que a geração Z bebe menos e que isso está dando prejuízo à indústria de bebidas alcoólicas. Todos nós temos percepções pessoais sobre isso, mas eu quis investigar pelos dados.
Três objetivos: verificar se a afirmação é verdadeira no Brasil; entender quem, dentro do público jovem, muda; e aproveitar que o Vigitel pergunta muito mais que álcool para olhar o que anda junto com o consumo. Essa última parte, os correlatos, pode levar a muitas outras investigações interessantes, com a metodologia correta.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de negócio (1 min).
O decisor é a área de estratégia de uma empresa de bebidas, com duas decisões. A primeira: posicionar a linha sem álcool para jovens como nicho, de alta escolaridade e renda, ou como produto de massa. A segunda: tratar a demanda jovem como estrutural, que acompanha essas pessoas quando envelhecem, ou como uma fase.
O custo do erro existe dos dois lados. Por isso não basta saber SE os jovens bebem menos: é preciso saber QUEM bebe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Hipótese e perguntas (1 min).
A hipótese: na mesma idade, cada geração bebe em excesso menos que a anterior, nos dois sexos, em todas as classes, e isso não é só uma tendência da época. Ela se desdobra em cinco perguntas.
"Consumo abusivo" é o indicador oficial do Ministério: cinco ou mais doses para homens, quatro ou mais para mulheres, numa mesma ocasião, nos últimos 30 dias. Não mede dependência nem volume; mede episódios de exagero.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(30 s).
Vou seguir a ordem em que o trabalho foi feito: primeiro a pré-análise, que mudou o próprio objetivo; depois as 14 decisões de tratamento; o pipeline em camadas e o modelo estrela; os resultados; a discussão; e, no fim, as limitações.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transformar qualquer dado, fiz a análise exploratória em três versões. Ela mudou a formulação do objetivo e gerou as decisões de tratamento.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da pré-análise (1 min 30 s).
Seis passos. Primeiro, a fonte: li o dicionário e a nota metodológica, registrei a licença e o SHA-256 do arquivo. Depois, os vazios, separados pelo motivo. Em seguida, quantos jovens há em cada ano e como se comportam os pesos. Depois, as mudanças de método da pesquisa ao longo da série. Com isso fiz uma prévia das perguntas, ainda comparando anos. E, por fim, reescrevi o objetivo por geração e tomei as 14 decisões de tratamento.
Os notebooks de exploração são gerados por script, e cada rodada de comentários virou uma nova 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vazios (1 min).
Num questionário, vazio quase nunca é dado perdido. Separei os vazios em três motivos. À esquerda, o pulo legítimo: quem não bebe não responde às perguntas de doses. No meio, colunas que simplesmente não existiam naquele ano, como a chave oficial antes de 2014 ou o tipo de telefone. À direita, o que falta de verdade: no máximo 0,6% de uma coluna.
Então não havia nada a imputar. O que fiz foi transformar o pulo em regra de qualidade: quem responde às doses tem que ser quem bebe.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Amostra por edição (1 min).
O Vigitel entrevista cerca de 50 mil pessoas por ano, mas o número de jovens caiu muito: de 8.770 em 2006 para 2.294 em 2024. Em 2020 e 2021, na pandemia, a amostra total caiu pela metade.
Com tão poucos jovens, um ano isolado tem margem de erro de uns três pontos. Isso levou à decisão D3: juntar todas as edições em que cada geração foi observada.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 (45 s).
O Vigitel é amostral, então toda prevalência usa o peso da própria pesquisa. Mas a escala do peso muda: até 2009 os pesos estão na casa das centenas; de 2010 em diante, na casa do milhão. Como eu junto várias edições numa mesma geração, normalizei o peso de cada edição para somar 1. Assim cada ano conta igual. É a decisão D4.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Rupturas de método (1 min 30 s).
Esta é a série de consumo abusivo por faixa etária, como vista na exploração: azul são os jovens, laranja os adultos de 35 a 44.
O problema é que a série tem três rupturas de método: em 2010 a pergunta de doses mudou de "mais do que cinco" para "cinco ou mais"; 2022 não existe; e em 2023 e 2024 entrou o celular e, em 2024, mudou a pergunta que abre o bloco de álcool.
A formulação original comparava 2010 com 2024, exatamente as duas pontas afetadas. Foi aqui que decidi mudar o desenho: comparar gerações na mesma idade, e não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Prévia por escolaridade e sexo (1 min).
Na prévia, por escolaridade, as três faixas oscilam dentro das margens, sem uma tendência clara. Por sexo, aparece o que viria a ser o achado central: a distância entre homens e mulheres jovens encolhe ao longo da série, até quase sumir em 2024.
Mas ainda é uma comparação entre anos, sujeita às rupturas que mostrei. Serviu de pista, e foi confirmada depois, já por geração e na mesma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Capitais na prévia (1 min).
Na formulação original, comparando 2010 com 2024 em cada capital, as diferenças pareciam grandes, de até 14 pontos, mas os intervalos eram enormes: só Fortaleza não tinha sobreposição.
Isso levou à decisão D9: mostrar cada capital com a margem de erro, usar a região como apoio quando a capital for inconclusiva, e, com a abordagem por geração, juntar várias edições para ganhar precisão.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 objetivo (45 s).
O resultado da pré-análise foi reescrever o objetivo. Na versão 1, eu comparava anos. Na versão 2, comparo gerações, sempre na mesma idade, juntando as edições de cada uma. A pergunta de negócio, o decisor e a fonte não mudaram. Como o enunciado pede, a versão original está preservada no anexo do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problema encontrado na exploração virou uma decisão registrada, com as alternativas descartadas e o motivo. Vou mostrar todas rapidamente e detalhar as duas que mais pesaram.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 a D7 (1 min 30 s).
D1: 2022 não existe e não é imputado. D2, a principal: comparar gerações, e não anos. D3: juntar as edições de cada geração. D4: normalizar o peso por edição. D5: só de 2010 em diante, por causa da pergunta de doses. D6: como a pergunta "costuma beber" muda e desaparece em 2024, decompus o consumo abusivo em duas partes, quem bebe e quanto exagera quem bebe. D7: como a escolaridade dos jovens subiu entre as gerações, analiso dentro de cada faixa e também padronizo pela escolaridade.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D8 a D14 (1 min 30 s).
D8: mantenho a escolaridade estimada e testo sem ela. D9: capitais sempre com margem de erro. D10: como a chave oficial só existe em parte dos anos e se repete, criei uma chave a partir da edição e da linha do arquivo, rastreável até a origem. D11 e D13: pandemia e o filtro novo de 2024 ficam, mas viram testes de sensibilidade. D12: o texto livre, que pode conter dado pessoal, fica só na bronze, por minimização da LGPD.
E a D14, que entrou depois, na revisão: padronizar pela idade. Detalho nos próximos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 e a figura f02 (1 min 30 s).
A geração é o ano da pesquisa menos a idade: millennials nascidos de 1986 a 1992, zillennials, a geração de transição, de 1993 a 1998, e a geração Z de 1999 a 2006, sempre observados aos 18-24 anos.
O gráfico mostra quantos jovens de cada geração foram entrevistados em cada edição; a linha laranja é a proporção de entrevistas por celular, que só aparece com a geração Z. Duas vantagens: a margem de erro cai para cerca de um ponto, e a comparação millennials contra zillennials é toda por fixo, sem mudança de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D14 e a figura f03a (1 min 30 s).
Fixar a faixa de 18 a 24 anos não basta. Como a série começa em 2010 e termina em 2024, os millennials aparecem sobretudo aos 22, 23 e 24 anos, e a geração Z sobretudo aos 18 e 19. Só 4% do peso dos millennials vem dos jovens de 18 anos; na geração Z, 29%.
E o consumo abusivo sobe com a idade. Sem corrigir, a geração Z parece beber menos só porque foi entrevistada mais nova. A correção é uma padronização direta: a média das prevalências das sete idades, com o mesmo peso para todas as gerações. Essa decisão mudou o resultado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como os dados foram persistidos e transformados na nuvem, no Databricks Free Edition.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Camadas (1 min 30 s).
O notebook 01 baixa o ZIP oficial do site do Ministério para um Volume do Unity Catalog e confere o SHA-256, para garantir que é exatamente o arquivo usado no trabalho.
A bronze é uma cópia fiel: as 833 mil linhas e as 486 colunas, tudo como texto, mais o número da linha de origem. Nenhuma regra de negócio aqui.
A silver aplica as regras S1 a S11, que são as decisões de tratamento: fica com 2010 em diante, 615.877 entrevistas e 28 colunas, sem texto livre.
A gold é o modelo estrela, no próximo slide. Por fim, as tabelas de qualidade e as de resultados, uma por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estrela (1 min 30 s).
Escolhi um esquema estrela porque as cinco perguntas cortam o mesmo fato, a entrevista, por geração, escolaridade, sexo, faixa etária, capital e edição. Cada corte é uma dimensão, e nenhuma pergunta precisa de outra tabela de fatos.
A fato tem uma linha por entrevista, 615.877, com as medidas em 0 ou 1, consumo abusivo e se bebe ao menos uma vez por mês, e os pesos. As prevalências não ficam guardadas: são calculadas na análise como média ponderada.
A linha de origem garante a linhagem até o arquivo oficial. O dicionário completo, com domínio e linhagem de cada atributo, está no catálogo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Qualidade (1 min).
O notebook 04 aplica 16 regras sobre a silver, nas seis dimensões do roteiro. Todas as regras de verificação passaram, com zero violações. As linhas marcadas como "informativa" não são erros: são características conhecidas, como as escolaridades estimadas pelo Ministério e as entrevistas por celular, que viraram testes de sensibilidade.
Além disso, o perfil dos 28 atributos da silver registra nulos, valores distintos, mínimo e máximo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Evidência da coleta (45 s).
Estas são capturas da execução no Databricks Free Edition. À esquerda, o arquivo no Volume, com o tamanho e o SHA-256 iguais aos do arquivo oficial. À direita, a verificação da bronze: entrevistas por ano e a confirmação de que a tabela Delta tem as mesmas 833.217 linhas do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Evidência da silver e da gold (45 s).
À esquerda, a silver: os jovens de cada geração e as edições em que foram observados, exatamente como no desenho. À direita, o teste do modelo estrela: juntando a fato com as seis dimensões, voltam as mesmas 615.877 linhas da silver, sem perda nem duplicação. No total, 26 tabelas ficaram persistidas no esquema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os resultados, pergunta por pergunta. Todas as prevalências são ponderadas e, entre gerações, padronizadas pela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Série no pipeline, f01 (45 s).
Esta é a série calculada no pipeline, de 2010 em diante. Os jovens ficam praticamente estáveis, de 21,9% para 22,7%, enquanto os adultos de 35 a 44 sobem mais. É o ponto de partida; a resposta às perguntas vem da comparação por geração,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P1, f03 (1 min).
Na mesma idade, os millennials tinham 21,1% de consumo abusivo; os zillennials, 22,2%; a geração Z, 22,3%. A diferença é de mais 1,1 ponto, e o intervalo inclui o zero: não há queda.
O círculo branco é a leitura sem padronizar: ali aparecia uma queda de 2,1 pontos, que vinha de a geração Z ter sido entrevistada mais nova. O losango, padronizado também pela escolaridade, quase não muda.
Mas o total esconde dois movimentos opostos.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P4, f04: o achado que mais me impressionou (1 min 30 s).
Sem considerar o sexo, não havia diferença entre as gerações. Separando, os homens caem de 28,1% para 24,0%, uma queda leve, e as mulheres sobem de 14,1% para 20,5%, um aumento significativo. Os dois movimentos se cancelam no total.
A distância entre os sexos, que era de 14 pontos entre os millennials, caiu para 3,5 na geração Z. Para o negócio, isso muda o público: "o jovem" não é um público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Decomposição, f05 (1 min).
Pela decisão D6, separei o consumo abusivo em duas partes: quantos jovens bebem pelo menos uma vez por mês e, entre os que bebem, quantos exageram.
Nos homens, a proporção que bebe quase não muda; o que cai é o exagero entre quem bebe: parece moderação. Nas mulheres, o exagero entre quem bebe é estável; o que sobe é a proporção de mulheres que bebem.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P2, f06 (1 min).
Por escolaridade, a aproximação de classe social, a geração Z fica de 0,6 a 2 pontos acima dos millennials nas três faixas, e nenhuma diferença é significativa. Sem os casos de escolaridade estimada, o resultado é o mesmo.
Para a decisão de nicho ou massa: não há um nicho de jovens escolarizados que bebe menos, mas também não há uma queda de massa. A diferença relevante não é de classe, é de sexo.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P3, f07 (1 min).
E se todo mundo mudou no mesmo período? Comparei os jovens com os adultos de 35 a 44 anos nas mesmas edições, os dois padronizados pela idade. Os jovens subiram 1,1 ponto; os adultos, 3,8. A diferença das diferenças é de menos 2,7 pontos, significativa.
A época puxou o consumo para cima, e os jovens acompanharam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P3, f08 (1 min).
Acompanhei cada geração ao envelhecer. Os homens zillennials ficam cerca de 1,4 ponto abaixo dos millennials tanto aos 18-24 quanto aos 25-29: curvas paralelas, o que sugere uma mudança que acompanha a geração, e não um adiamento. A geração Z ainda é jovem demais para essa comparação; fica para as próximas edições.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P5, f09 (1 min).
Cada quadrado é uma capital; azul é queda da geração Z em relação aos millennials, vermelho é alta; borda preta é diferença fora da margem de erro. Só Aracaju tem diferença clara, e com 27 capitais uma é esperada pelo acaso. Nenhuma região é significativa.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P5, f10 (45 s).
O mesmo resultado com as margens de erro. Com cerca de 390 jovens da geração Z por capital, a margem é de 5 a 6 pontos. Por isso, os dados não sustentam uma priorização de capitais para lançamento.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Robustez, f11 (1 min).
Refiz tudo em seis cenários, um para cada decisão que poderia mudar o resultado: só 18 a 21 anos, sem 2024, geração Z só por fixo, sem a pandemia, sem a escolaridade estimada.
A alta das mulheres é robusta: significativa em cinco dos seis. A queda dos homens é frágil: perde a significância em três cenários. E a última linha mostra que, sem padronizar, aparecia uma queda total que era efeito da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Veredito (1 min).
Os critérios estão no README desde a versão 2 do objetivo. A parte central da hipótese, menor prevalência na mesma idade e queda em todos os grupos, não se confirma. Só a terceira parte se confirma: os jovens subiram menos que os adultos no mesmo período.
Na primeira versão, sem padronizar, eu tinha concluído "parcialmente refutada". A correção do método mudou a conclusão, com os mesmos critérios.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Correlatos, f13 (1 min 30 s).
O Vigitel pergunta muito mais que álcool. Testei 21 características contra o consumo abusivo entre jovens, ajustando por sexo e ano, e classifiquei a expectativa de cada uma antes de olhar os dados. Vermelho é mais consumo, azul menos, cinza inconclusivo; o traço preto é o mesmo cálculo para todos os adultos.
Os mais fortes, esperados: cigarro e cigarro eletrônico. O curioso: depressão associada a mais consumo só entre os jovens. E o que contraria o senso comum: tela no lazer anda junto com mais consumo, não menos.
Associação não é causa, mas cada um desses achados pode virar uma investigação própria, com a metodologia correta.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Destaques, f14 (45 s).
Em cada painel, "não" são os jovens sem a característica e "sim", os que têm; a barra é a porcentagem de cada grupo com consumo abusivo. 54% dos jovens que usam cigarro eletrônico bebem em excesso, contra 20% de quem não usa. Com diagnóstico de depressão, 30% contra 21%. Com três horas ou mais de tela, 24% contra 18%. E quem trabalha, 25% contra 17%.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o que esses resultados significam para o problema e para o decisor.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lições (1 min 30 s).
O que mais me impressionou no trabalho foram duas coisas. A primeira é a importância da padronização quando se comparam públicos diferentes: a mesma base, com o mesmo indicador, deu uma queda significativa sem padronizar e nenhuma diferença padronizando. A segunda: sem considerar o sexo, não havia diferença; separando, os homens têm uma queda leve e as mulheres, um aumento significativo.
A lição para quem lê notícias de mercado é perguntar sempre: comparado na mesma idade? E dentro de quais grupos?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decisões (1 min 30 s).
Nicho ou massa: a pergunta pressupunha uma queda do consumo, e ela não aparece em nenhuma faixa de escolaridade. Então nenhum dos dois posicionamentos tem base nesta tendência. O que existe, a moderação entre os homens que bebem, aponta mais para baixo teor do que para trocar o álcool, mas é frágil.
Estrutural ou fase: nos homens, as curvas paralelas sugerem uma mudança da geração; para a geração Z, ainda não dá para saber.
E para a saúde pública: a alta entre as jovens é o achado mais sólido, e pede atenção da prevenção.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Recomendação (1 min 30 s).
Se eu fosse o decisor, esperaria mais dados antes de um investimento de grande porte. A manchete não se confirma no Brasil, e agir com base nela é justamente o custo de erro que o projeto queria evitar.
Três próximos passos. Primeiro, confirmar com outras fontes além de pesquisa e autorrelato, como dados de vendas e de volume. Segundo, investigar a relação entre o consumo abusivo e a quantidade consumida: o Vigitel mede a ocorrência do exagero, não o volume, e é o volume que define o mercado. Terceiro, olhar para o público feminino jovem, onde está a mudança mais robusta.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as limitações que condicionam tudo o que mostrei.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Modo de coleta, f12 (1 min).
Em 2023 o Vigitel entrevistou metade por fixo e metade por celular: quem respondeu pelo celular declarou 11,5 pontos a mais de consumo abusivo. Parte é público diferente, parte é responder sozinho, sem constrangimento.
Isso pesa porque só a geração Z tem entrevistas por celular. Usando só o fixo, a alta feminina cai para 2,7 pontos e deixa de ser significativa. O modo de coleta não explica tudo, mas pesa.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(1 min 30 s).
Quatro grupos. Alcance: só capitais, e com recortes de geração importados dos Estados Unidos. Medida: o consumo é declarado por telefone, e se a norma social sobre o beber feminino mudou, parte da alta pode ser de declaração; além disso, o indicador é de prevalência, não de volume, e a escolaridade substitui a renda. Coleta: o celular só aparece na geração Z, e quem não atende não aparece. Desenho: idade, geração e época não se separam por completo, e muitos resultados não significativos querem dizer "não deu para afirmar", e não "não há diferença".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Autoavaliação (1 min).
P1, P2 e P4 foram respondidas; a P1 só ficou correta depois da padronização. A P3 foi respondida em parte, porque a geração Z ainda não chegou aos 25-29 anos. A P5 é pouco conclusiva, por falta de amostra por capital.
As dificuldades: os limites do Free Edition, que obrigaram a gravar a bronze em lotes; o tempo de execução; e ter que refazer tudo depois da padronização pela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Faria diferente e próximos passos (1 min).
Se recomeçasse, definiria a comparação por geração e na mesma idade desde o objetivo, levantaria as mudanças de método no primeiro dia e levaria o pipeline ao Databricks mais cedo.
Para virar uma solução de uso contínuo: um job a cada nova edição do Vigitel, um painel para o decisor, outras fontes, como a PNS e dados de vendas, e um modelo que separe idade, período e geração.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(30 s).
A geração Z bebe menos? Na mesma idade, não. Os homens bebem em excesso um pouco menos, as mulheres, mais: os sexos estão convergindo, e não há diferença por classe social. A minha recomendação ao decisor é buscar mais dados antes de um investimento de grande porte. Obrigado;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MVP PSP8 · Geração Z e álcool · Vigitel 2010-2024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geração Z bebe menos?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Consumo abusivo de álcool por geração nas capitais brasileiras, Vigitel 2010-2024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MVP de pipeline de dados em nuvem (Databricks) · PSP8, Prof. André Luiz Marques Serrano, EPR/FT/UnB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Guilherme Augusto Fontes Cunha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tema</a:t>
            </a:r>
            <a:endParaRPr lang="en-US" sz="3000" dirty="0"/>
          </a:p>
        </p:txBody>
      </p:sp>
      <p:sp>
        <p:nvSpPr>
          <p:cNvPr id="3" name="manchete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geração Z bebe menos, e isso está dando prejuízo à indústria do álcool.”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10424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afirmação que circula nas notícias de mercado e motivou o trabalho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291840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Verificar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35204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Todos temos percepções pessoais sobre como os jovens bebem. Quis testar a manchete com dados oficiais, e não com impressões.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15968" y="3291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5968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56048" y="3291840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Entender quem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3977640"/>
            <a:ext cx="35204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basta saber se bebem menos: interessa saber quais jovens, de que sexo e classe, e se a mudança é da geração.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83296" y="3291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83296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723376" y="3291840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Ir além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083296" y="3977640"/>
            <a:ext cx="35204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Vigitel pergunta muito mais que álcool. Os correlatos abrem outras investigações, com a metodologia certa.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de negócio</a:t>
            </a:r>
            <a:endParaRPr lang="en-US" sz="3000" dirty="0"/>
          </a:p>
        </p:txBody>
      </p:sp>
      <p:sp>
        <p:nvSpPr>
          <p:cNvPr id="3" name="card_d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Decisão 1: nicho ou massa?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 só os jovens mais escolarizados bebem menos, a linha sem álcool é um produto premium, de nicho. Se a queda atinge todas as classes, é mercado de massa.</a:t>
            </a:r>
            <a:endParaRPr lang="en-US" sz="1500" dirty="0"/>
          </a:p>
        </p:txBody>
      </p:sp>
      <p:sp>
        <p:nvSpPr>
          <p:cNvPr id="6" name="card_d2"/>
          <p:cNvSpPr/>
          <p:nvPr/>
        </p:nvSpPr>
        <p:spPr>
          <a:xfrm>
            <a:off x="6263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Decisão 2: estrutural ou fase?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 a geração Z leva o hábito para a vida adulta, o investimento é de longo prazo. Se só adia o consumo, é uma fase de idade.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Decisor: área de estratégia e portfólio de uma empresa de bebidas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Errar para nicho numa tendência ampla: perder mercado.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Errar para massa numa tendência restrita: investir em distribuição sem demanda.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Interesse secundário: saúde pública (prevenção por geração, sexo e classe).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 e perguntas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Na mesma idade (18 a 24 anos), o consumo abusivo de álcool diminui de uma geração para a seguinte, nos dois sexos e em todas as faixas de escolaridade, e isso não é uma tendência geral da população.</a:t>
            </a:r>
            <a:endParaRPr lang="en-US" sz="1800" dirty="0"/>
          </a:p>
        </p:txBody>
      </p:sp>
      <p:sp>
        <p:nvSpPr>
          <p:cNvPr id="4" name="card_P1"/>
          <p:cNvSpPr/>
          <p:nvPr/>
        </p:nvSpPr>
        <p:spPr>
          <a:xfrm>
            <a:off x="548640" y="2514600"/>
            <a:ext cx="2057400" cy="28346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1691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Quanto cada geração difere da anterior, aos 18-24?</a:t>
            </a:r>
            <a:endParaRPr lang="en-US" sz="1600" dirty="0"/>
          </a:p>
        </p:txBody>
      </p:sp>
      <p:sp>
        <p:nvSpPr>
          <p:cNvPr id="7" name="card_P2"/>
          <p:cNvSpPr/>
          <p:nvPr/>
        </p:nvSpPr>
        <p:spPr>
          <a:xfrm>
            <a:off x="2816352" y="2514600"/>
            <a:ext cx="2057400" cy="28346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9232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3520440"/>
            <a:ext cx="1691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diferença ocorre em todas as faixas de escolaridade?</a:t>
            </a:r>
            <a:endParaRPr lang="en-US" sz="1600" dirty="0"/>
          </a:p>
        </p:txBody>
      </p:sp>
      <p:sp>
        <p:nvSpPr>
          <p:cNvPr id="10" name="card_P3"/>
          <p:cNvSpPr/>
          <p:nvPr/>
        </p:nvSpPr>
        <p:spPr>
          <a:xfrm>
            <a:off x="5084064" y="2514600"/>
            <a:ext cx="2057400" cy="28346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66944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266944" y="3520440"/>
            <a:ext cx="1691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 efeito de geração ou da época?</a:t>
            </a:r>
            <a:endParaRPr lang="en-US" sz="1600" dirty="0"/>
          </a:p>
        </p:txBody>
      </p:sp>
      <p:sp>
        <p:nvSpPr>
          <p:cNvPr id="13" name="card_P4"/>
          <p:cNvSpPr/>
          <p:nvPr/>
        </p:nvSpPr>
        <p:spPr>
          <a:xfrm>
            <a:off x="7351776" y="2514600"/>
            <a:ext cx="2057400" cy="28346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534656" y="3520440"/>
            <a:ext cx="1691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 igual entre homens e mulheres?</a:t>
            </a:r>
            <a:endParaRPr lang="en-US" sz="1600" dirty="0"/>
          </a:p>
        </p:txBody>
      </p:sp>
      <p:sp>
        <p:nvSpPr>
          <p:cNvPr id="16" name="card_P5"/>
          <p:cNvSpPr/>
          <p:nvPr/>
        </p:nvSpPr>
        <p:spPr>
          <a:xfrm>
            <a:off x="9619488" y="2514600"/>
            <a:ext cx="2057400" cy="28346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2368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802368" y="3520440"/>
            <a:ext cx="1691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Quais capitais concentram as maiores diferenças?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Consumo abusivo = 5+ doses (homens) ou 4+ doses (mulheres) numa ocasião, nos últimos 30 dias (indicador oficial do Vigitel).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2446020"/>
            <a:ext cx="1097280" cy="914"/>
          </a:xfrm>
          <a:prstGeom prst="line">
            <a:avLst/>
          </a:prstGeom>
          <a:noFill/>
          <a:ln w="19050">
            <a:solidFill>
              <a:srgbClr val="B8B6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Pré-análise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conhecer a base antes de tratar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7180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03320" y="2446020"/>
            <a:ext cx="1097280" cy="914"/>
          </a:xfrm>
          <a:prstGeom prst="line">
            <a:avLst/>
          </a:prstGeom>
          <a:noFill/>
          <a:ln w="19050">
            <a:solidFill>
              <a:srgbClr val="B8B6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Decisões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D1 a D14, com alternativas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577840" y="2446020"/>
            <a:ext cx="1097280" cy="914"/>
          </a:xfrm>
          <a:prstGeom prst="line">
            <a:avLst/>
          </a:prstGeom>
          <a:noFill/>
          <a:ln w="19050">
            <a:solidFill>
              <a:srgbClr val="B8B6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Pipeline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bronze, silver, gold e qualidade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0840" y="21031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52360" y="2446020"/>
            <a:ext cx="1097280" cy="914"/>
          </a:xfrm>
          <a:prstGeom prst="line">
            <a:avLst/>
          </a:prstGeom>
          <a:noFill/>
          <a:ln w="19050">
            <a:solidFill>
              <a:srgbClr val="B8B6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Resultados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P1 a P5, robustez e veredito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9536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326880" y="2446020"/>
            <a:ext cx="1097280" cy="914"/>
          </a:xfrm>
          <a:prstGeom prst="line">
            <a:avLst/>
          </a:prstGeom>
          <a:noFill/>
          <a:ln w="19050">
            <a:solidFill>
              <a:srgbClr val="B8B6A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Discussão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fazer com isso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6988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698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Limitações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até onde os números vão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Todas as figuras vêm do próprio pipeline (resultados/figuras) ou do relatório de análise exploratória; as capturas, da execução no Databricks Free Edition em 21/10/2026.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Pré-análise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Conhecer a base antes de tratar: três versões da análise exploratória (v1 a v3)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processo da pré-análise</a:t>
            </a:r>
            <a:endParaRPr lang="en-US" sz="3000" dirty="0"/>
          </a:p>
        </p:txBody>
      </p:sp>
      <p:sp>
        <p:nvSpPr>
          <p:cNvPr id="3" name="passo_0"/>
          <p:cNvSpPr/>
          <p:nvPr/>
        </p:nvSpPr>
        <p:spPr>
          <a:xfrm>
            <a:off x="548640" y="1371600"/>
            <a:ext cx="1691640" cy="29260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Fonte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dicionário, nota metodológica, licença e SHA-256 do arquivo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58568" y="2697480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passo_1"/>
          <p:cNvSpPr/>
          <p:nvPr/>
        </p:nvSpPr>
        <p:spPr>
          <a:xfrm>
            <a:off x="2423160" y="1371600"/>
            <a:ext cx="1691640" cy="29260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Vazios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separar pulo de questionário, variável inexistente e falta real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33088" y="2697480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asso_2"/>
          <p:cNvSpPr/>
          <p:nvPr/>
        </p:nvSpPr>
        <p:spPr>
          <a:xfrm>
            <a:off x="4297680" y="1371600"/>
            <a:ext cx="1691640" cy="29260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Amostra e pesos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jovens por edição e escala do peso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07608" y="2697480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asso_3"/>
          <p:cNvSpPr/>
          <p:nvPr/>
        </p:nvSpPr>
        <p:spPr>
          <a:xfrm>
            <a:off x="6172200" y="1371600"/>
            <a:ext cx="1691640" cy="29260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Método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rupturas: 2010, sem 2022, celular, filtro de 2024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82128" y="2697480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asso_4"/>
          <p:cNvSpPr/>
          <p:nvPr/>
        </p:nvSpPr>
        <p:spPr>
          <a:xfrm>
            <a:off x="8046720" y="1371600"/>
            <a:ext cx="1691640" cy="29260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108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41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Prévia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cinco perguntas, ainda comparando anos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756648" y="2697480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asso_5"/>
          <p:cNvSpPr/>
          <p:nvPr/>
        </p:nvSpPr>
        <p:spPr>
          <a:xfrm>
            <a:off x="9921240" y="1371600"/>
            <a:ext cx="1691640" cy="292608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0" y="1554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5156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01268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Decisões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2697480"/>
            <a:ext cx="1508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objetivo v2 por geração e D1 a D14</a:t>
            </a:r>
            <a:endParaRPr lang="en-US" sz="1400" dirty="0"/>
          </a:p>
        </p:txBody>
      </p:sp>
      <p:sp>
        <p:nvSpPr>
          <p:cNvPr id="38" name="card_aed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Como foi conduzida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Notebooks gerados por script, uma versão por rodada (v1 a v3). Os comentários do autor sobre cada versão foram acumulados e aplicados juntos na seguinte, e as decisões de tratamento ficaram com o autor, com alternativas e motivos registrados.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todo vazio é pulo de questionário, e não dado perdido</a:t>
            </a:r>
            <a:endParaRPr lang="en-US" sz="3000" dirty="0"/>
          </a:p>
        </p:txBody>
      </p:sp>
      <p:pic>
        <p:nvPicPr>
          <p:cNvPr id="3" name="aed2_fig1_vazios_tres_categorias.png" descr="aed2_fig1_vazios_tres_catego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4716"/>
            <a:ext cx="7955280" cy="39028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78240" y="1371600"/>
            <a:ext cx="283464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Pulo legítimo (azul): quem não bebe não responde às doses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Inexistente no ano (preto): a pergunta não existia naquela edição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Falta real: no máximo 0,6% de uma coluna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Consequência: nada a imputar. Os vazios viram regra de consistência (pulo conferido em 100% dos casos) e não tratamento.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jovens entrevistados encolheram ao longo da série</a:t>
            </a:r>
            <a:endParaRPr lang="en-US" sz="3000" dirty="0"/>
          </a:p>
        </p:txBody>
      </p:sp>
      <p:pic>
        <p:nvPicPr>
          <p:cNvPr id="3" name="aed2_fig2_amostra_por_ano.png" descr="aed2_fig2_amostra_por_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935" y="1234440"/>
            <a:ext cx="10733649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5120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8.770 → 2.294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52160"/>
            <a:ext cx="5120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jovens de 18 a 24 anos entrevistados em 2006 e em 2024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5120640"/>
            <a:ext cx="5577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2020-2021: pandemia, amostra pela metade (D11)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Um ano isolado tem margem de ±3 p.p.: juntar as edições de cada geração (D3)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amostral muda de escala em 2010</a:t>
            </a:r>
            <a:endParaRPr lang="en-US" sz="3000" dirty="0"/>
          </a:p>
        </p:txBody>
      </p:sp>
      <p:pic>
        <p:nvPicPr>
          <p:cNvPr id="3" name="aed2_fig3_pesos_por_ano.png" descr="aed2_fig3_pesos_por_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935" y="1234440"/>
            <a:ext cx="10733649" cy="3840480"/>
          </a:xfrm>
          <a:prstGeom prst="rect">
            <a:avLst/>
          </a:prstGeom>
        </p:spPr>
      </p:pic>
      <p:sp>
        <p:nvSpPr>
          <p:cNvPr id="4" name="card_d4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Decisão D4: normalizar o peso de cada edição para somar 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715000"/>
            <a:ext cx="10607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Sem isso, ao juntar edições, os anos com peso maior dominariam a geração. Com a normalização, cada ano conta igual.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anos mistura comportamento com método</a:t>
            </a:r>
            <a:endParaRPr lang="en-US" sz="3000" dirty="0"/>
          </a:p>
        </p:txBody>
      </p:sp>
      <p:pic>
        <p:nvPicPr>
          <p:cNvPr id="3" name="aed2_fig4_p1_p3_faixa_etaria.png" descr="aed2_fig4_p1_p3_faixa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7796"/>
            <a:ext cx="8138160" cy="328512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6112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96112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pergunta de doses passa a ser “5 ou mais” (D5)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6112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edição não existe (D1)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2023-24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3886200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entra o celular; em 2024 muda o filtro do bloco de álcool (D2, D13)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00600"/>
            <a:ext cx="110642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 prévia (formulação v1), os jovens tinham 21,9% em 2010 e 22,7% em 2024. Mas as três rupturas estão justamente nas pontas da comparação: qualquer diferença entre 2010 e 2024 seria, em parte, efeito de método.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prévia já apontava: o sinal estava no sexo</a:t>
            </a:r>
            <a:endParaRPr lang="en-US" sz="3000" dirty="0"/>
          </a:p>
        </p:txBody>
      </p:sp>
      <p:pic>
        <p:nvPicPr>
          <p:cNvPr id="3" name="aed2_fig5_p2_escolaridade.png" descr="aed2_fig5_p2_escolar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2484"/>
            <a:ext cx="7863840" cy="2421352"/>
          </a:xfrm>
          <a:prstGeom prst="rect">
            <a:avLst/>
          </a:prstGeom>
        </p:spPr>
      </p:pic>
      <p:pic>
        <p:nvPicPr>
          <p:cNvPr id="4" name="aed2_fig6_p4_sexo.png" descr="aed2_fig6_p4_sex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68" y="3703320"/>
            <a:ext cx="7027985" cy="2514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686800" y="1371600"/>
            <a:ext cx="29260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Por escolaridade (acima): oscilação dentro da margem, sem tendência clara em nenhuma faixa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Por sexo (abaixo): a distância entre homens e mulheres jovens encolhe ao longo da série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Ainda comparando anos: serviu de pista, não de resposta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capital, a comparação de dois anos não tinha precisão</a:t>
            </a:r>
            <a:endParaRPr lang="en-US" sz="3000" dirty="0"/>
          </a:p>
        </p:txBody>
      </p:sp>
      <p:pic>
        <p:nvPicPr>
          <p:cNvPr id="3" name="aed2_fig7_p5_capitais.png" descr="aed2_fig7_p5_capit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1173"/>
            <a:ext cx="5394960" cy="48500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Formulação v1: cada capital em 2010 (cinza) e em 2024 (azul)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Diferenças de até ±14 p.p., mas com intervalos enormes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Fortaleza sem sobreposição dos intervalos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Decisão D9: capitais com a margem de erro à vista e a região como apoio; e juntar as edições por geração para ganhar precisão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pré-análise ao novo objetivo</a:t>
            </a:r>
            <a:endParaRPr lang="en-US" sz="3000" dirty="0"/>
          </a:p>
        </p:txBody>
      </p:sp>
      <p:sp>
        <p:nvSpPr>
          <p:cNvPr id="3" name="card_v1"/>
          <p:cNvSpPr/>
          <p:nvPr/>
        </p:nvSpPr>
        <p:spPr>
          <a:xfrm>
            <a:off x="548640" y="137160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Versão 1: comparar anos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377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Jovens de 18-24 em 2010 x no ano mais recente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Pontas da série afetadas por pergunta nova, celular e filtro novo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Um ano isolado: poucos jovens e margem de ±3 p.p.</a:t>
            </a:r>
            <a:endParaRPr lang="en-US" sz="1800" dirty="0"/>
          </a:p>
        </p:txBody>
      </p:sp>
      <p:sp>
        <p:nvSpPr>
          <p:cNvPr id="6" name="card_v2"/>
          <p:cNvSpPr/>
          <p:nvPr/>
        </p:nvSpPr>
        <p:spPr>
          <a:xfrm>
            <a:off x="6263640" y="137160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Versão 2: comparar gerações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9377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Millennials, zillennials e geração Z, sempre aos 18-24 anos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Cada geração junta todas as edições em que foi observada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P3 passa a acompanhar cada geração ao envelhecer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89320" y="3017520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problema, o decisor e a fonte continuaram os mesmos; mudou o desenho da comparação. A versão 1 fica preservada no Anexo A do README.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tratamento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14 decisões, cada uma com alternativas descartadas e o motivo do autor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D1 a D7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Problema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1188720"/>
            <a:ext cx="6126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Decisão</a:t>
            </a:r>
            <a:endParaRPr lang="en-US" sz="1400" dirty="0"/>
          </a:p>
        </p:txBody>
      </p:sp>
      <p:sp>
        <p:nvSpPr>
          <p:cNvPr id="5" name="faixa_D1"/>
          <p:cNvSpPr/>
          <p:nvPr/>
        </p:nvSpPr>
        <p:spPr>
          <a:xfrm>
            <a:off x="548640" y="1563624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550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00200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existe a edição de 2022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600200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Lacuna à vista, sem criar nenhum dado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2257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267712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2010 só fixo; 2024 com celular e filtro novo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267712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Comparar gerações na mesma idade, e não anos</a:t>
            </a:r>
            <a:endParaRPr lang="en-US" sz="1400" dirty="0"/>
          </a:p>
        </p:txBody>
      </p:sp>
      <p:sp>
        <p:nvSpPr>
          <p:cNvPr id="14" name="faixa_D3"/>
          <p:cNvSpPr/>
          <p:nvPr/>
        </p:nvSpPr>
        <p:spPr>
          <a:xfrm>
            <a:off x="548640" y="2898648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35224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Poucos jovens num ano isolado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Juntar todas as edições de cada geração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602736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Pesos em escalas diferentes entre anos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602736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Normalizar o peso para somar 1 por edição</a:t>
            </a:r>
            <a:endParaRPr lang="en-US" sz="1400" dirty="0"/>
          </a:p>
        </p:txBody>
      </p:sp>
      <p:sp>
        <p:nvSpPr>
          <p:cNvPr id="23" name="faixa_D5"/>
          <p:cNvSpPr/>
          <p:nvPr/>
        </p:nvSpPr>
        <p:spPr>
          <a:xfrm>
            <a:off x="548640" y="4233672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3251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270248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Pergunta de doses mudou em 2010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270248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Usar só as edições de 2010 em diante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9926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937760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Pergunta “costuma beber” muda e some em 2024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4937760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Decompor: quem bebe x exagero entre quem bebe</a:t>
            </a:r>
            <a:endParaRPr lang="en-US" sz="1400" dirty="0"/>
          </a:p>
        </p:txBody>
      </p:sp>
      <p:sp>
        <p:nvSpPr>
          <p:cNvPr id="32" name="faixa_D7"/>
          <p:cNvSpPr/>
          <p:nvPr/>
        </p:nvSpPr>
        <p:spPr>
          <a:xfrm>
            <a:off x="548640" y="5568696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6601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660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D7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605272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Escolaridade dos jovens mudou entre gerações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5605272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Análise por faixa e média padronizada pela escolaridade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D8 a D14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Problema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1188720"/>
            <a:ext cx="6126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Decisão</a:t>
            </a:r>
            <a:endParaRPr lang="en-US" sz="1400" dirty="0"/>
          </a:p>
        </p:txBody>
      </p:sp>
      <p:sp>
        <p:nvSpPr>
          <p:cNvPr id="5" name="faixa_D8"/>
          <p:cNvSpPr/>
          <p:nvPr/>
        </p:nvSpPr>
        <p:spPr>
          <a:xfrm>
            <a:off x="548640" y="1563624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550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00200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Escolaridade estimada pelo Ministério (1%)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600200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Manter e testar sem esses casos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22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267712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Poucos jovens por capital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267712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Capitais com margem de erro; região como apoio</a:t>
            </a:r>
            <a:endParaRPr lang="en-US" sz="1400" dirty="0"/>
          </a:p>
        </p:txBody>
      </p:sp>
      <p:sp>
        <p:nvSpPr>
          <p:cNvPr id="14" name="faixa_D10"/>
          <p:cNvSpPr/>
          <p:nvPr/>
        </p:nvSpPr>
        <p:spPr>
          <a:xfrm>
            <a:off x="548640" y="2898648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D10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35224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Chave oficial falha e se repete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Chave = edição + linha do arquivo original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D11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602736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Pandemia: amostra pela metade em 2020-21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602736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Manter e testar sem esses anos</a:t>
            </a:r>
            <a:endParaRPr lang="en-US" sz="1400" dirty="0"/>
          </a:p>
        </p:txBody>
      </p:sp>
      <p:sp>
        <p:nvSpPr>
          <p:cNvPr id="23" name="faixa_D12"/>
          <p:cNvSpPr/>
          <p:nvPr/>
        </p:nvSpPr>
        <p:spPr>
          <a:xfrm>
            <a:off x="548640" y="4233672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3251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D12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270248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Texto livre; região vazia em 2012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270248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Texto livre só na bronze (LGPD); região pela capital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9926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D13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937760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Filtro novo do bloco de álcool em 2024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4937760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Manter e testar sem 2024</a:t>
            </a:r>
            <a:endParaRPr lang="en-US" sz="1400" dirty="0"/>
          </a:p>
        </p:txBody>
      </p:sp>
      <p:sp>
        <p:nvSpPr>
          <p:cNvPr id="32" name="faixa_D14"/>
          <p:cNvSpPr/>
          <p:nvPr/>
        </p:nvSpPr>
        <p:spPr>
          <a:xfrm>
            <a:off x="548640" y="5568696"/>
            <a:ext cx="1106424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66013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660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D14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605272"/>
            <a:ext cx="40233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Gerações observadas em idades diferentes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5605272"/>
            <a:ext cx="61264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Padronizar pela idade simples (18 a 24)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D2: comparar gerações, e não anos</a:t>
            </a:r>
            <a:endParaRPr lang="en-US" sz="3000" dirty="0"/>
          </a:p>
        </p:txBody>
      </p:sp>
      <p:pic>
        <p:nvPicPr>
          <p:cNvPr id="3" name="f02_cobertura_geracoes.png" descr="f02_cobertura_ger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7230"/>
            <a:ext cx="6949440" cy="31062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4356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Millennials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709928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nascidos em 1986-1992; observados aos 18-24 em 2010-2016, só fixo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25328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Zillennials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807208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nascidos em 1993-1998; observados em 2011-2021, só fixo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Geração Z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904488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nascidos em 1999-2006; observados em 2017-2024, 33% celular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Geração = ano da pesquisa menos a idade. Sempre na mesma idade (18 a 24).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Juntando vários anos por geração, a margem de erro cai para cerca de ±1 p.p.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Millennials x zillennials: comparação toda por telefone fixo, sem mudança de método.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D14: na mesma idade, de fato</a:t>
            </a:r>
            <a:endParaRPr lang="en-US" sz="3000" dirty="0"/>
          </a:p>
        </p:txBody>
      </p:sp>
      <p:pic>
        <p:nvPicPr>
          <p:cNvPr id="3" name="f03a_idade_por_geracao.png" descr="f03a_idade_por_ge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3527"/>
            <a:ext cx="7680960" cy="31679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x 29%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2240280"/>
            <a:ext cx="3108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peso vem dos jovens de 18 anos: millennials x geração Z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37760"/>
            <a:ext cx="11064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consumo abusivo sobe com a idade: cerca de 14% aos 18 e 27% aos 24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janela 2010-2024 mostra os millennials mais velhos e a geração Z mais nova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Correção: média das 7 idades, com peso igual para cada uma, nas mesmas idades para todas as gerações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no Databricks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Arquitetura em camadas: raw, bronze, silver e gold, com qualidade e análise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arquivo oficial ao modelo estrela</a:t>
            </a:r>
            <a:endParaRPr lang="en-US" sz="3000" dirty="0"/>
          </a:p>
        </p:txBody>
      </p:sp>
      <p:sp>
        <p:nvSpPr>
          <p:cNvPr id="3" name="camada_Raw"/>
          <p:cNvSpPr/>
          <p:nvPr/>
        </p:nvSpPr>
        <p:spPr>
          <a:xfrm>
            <a:off x="548640" y="1371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6B6A64"/>
          </a:solidFill>
          <a:ln w="12700">
            <a:solidFill>
              <a:srgbClr val="6B6A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Volume do Unity Catalog</a:t>
            </a:r>
            <a:endParaRPr lang="en-US" sz="1300" dirty="0"/>
          </a:p>
        </p:txBody>
      </p:sp>
      <p:sp>
        <p:nvSpPr>
          <p:cNvPr id="6" name="corpo_Raw"/>
          <p:cNvSpPr/>
          <p:nvPr/>
        </p:nvSpPr>
        <p:spPr>
          <a:xfrm>
            <a:off x="548640" y="260604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17830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ZIP oficial do Ministério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87 MB, SHA-256 conferido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notebook 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755648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camada_Bronze"/>
          <p:cNvSpPr/>
          <p:nvPr/>
        </p:nvSpPr>
        <p:spPr>
          <a:xfrm>
            <a:off x="2816352" y="1371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9C5B2E"/>
          </a:solidFill>
          <a:ln w="12700">
            <a:solidFill>
              <a:srgbClr val="9C5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bronze_vigitel</a:t>
            </a:r>
            <a:endParaRPr lang="en-US" sz="1300" dirty="0"/>
          </a:p>
        </p:txBody>
      </p:sp>
      <p:sp>
        <p:nvSpPr>
          <p:cNvPr id="12" name="corpo_Bronze"/>
          <p:cNvSpPr/>
          <p:nvPr/>
        </p:nvSpPr>
        <p:spPr>
          <a:xfrm>
            <a:off x="2816352" y="260604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743200"/>
            <a:ext cx="17830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cópia fiel do CSV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833.217 linhas x 486 colunas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gravada em lotes de 20 mil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28032" y="1755648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camada_Silver"/>
          <p:cNvSpPr/>
          <p:nvPr/>
        </p:nvSpPr>
        <p:spPr>
          <a:xfrm>
            <a:off x="5084064" y="1371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6E7781"/>
          </a:solidFill>
          <a:ln w="12700">
            <a:solidFill>
              <a:srgbClr val="6E77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4064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84064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silver_vigitel</a:t>
            </a:r>
            <a:endParaRPr lang="en-US" sz="1300" dirty="0"/>
          </a:p>
        </p:txBody>
      </p:sp>
      <p:sp>
        <p:nvSpPr>
          <p:cNvPr id="18" name="corpo_Silver"/>
          <p:cNvSpPr/>
          <p:nvPr/>
        </p:nvSpPr>
        <p:spPr>
          <a:xfrm>
            <a:off x="5084064" y="260604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75504" y="2743200"/>
            <a:ext cx="17830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2010 em diante: 615.877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28 colunas, regras S1-S11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 texto livre (D12)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95744" y="1755648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camada_Gold"/>
          <p:cNvSpPr/>
          <p:nvPr/>
        </p:nvSpPr>
        <p:spPr>
          <a:xfrm>
            <a:off x="7351776" y="1371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A87A0C"/>
          </a:solidFill>
          <a:ln w="12700">
            <a:solidFill>
              <a:srgbClr val="A87A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51776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351776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fato + 6 dimensões</a:t>
            </a:r>
            <a:endParaRPr lang="en-US" sz="1300" dirty="0"/>
          </a:p>
        </p:txBody>
      </p:sp>
      <p:sp>
        <p:nvSpPr>
          <p:cNvPr id="24" name="corpo_Gold"/>
          <p:cNvSpPr/>
          <p:nvPr/>
        </p:nvSpPr>
        <p:spPr>
          <a:xfrm>
            <a:off x="7351776" y="260604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43216" y="2743200"/>
            <a:ext cx="17830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modelo estrela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integridade referencial ok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notebook 03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363456" y="1755648"/>
            <a:ext cx="182880" cy="292608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camada_Consumo"/>
          <p:cNvSpPr/>
          <p:nvPr/>
        </p:nvSpPr>
        <p:spPr>
          <a:xfrm>
            <a:off x="9619488" y="137160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19488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619488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qa_* e res_*</a:t>
            </a:r>
            <a:endParaRPr lang="en-US" sz="1300" dirty="0"/>
          </a:p>
        </p:txBody>
      </p:sp>
      <p:sp>
        <p:nvSpPr>
          <p:cNvPr id="30" name="corpo_Consumo"/>
          <p:cNvSpPr/>
          <p:nvPr/>
        </p:nvSpPr>
        <p:spPr>
          <a:xfrm>
            <a:off x="9619488" y="2606040"/>
            <a:ext cx="1965960" cy="224028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10928" y="2743200"/>
            <a:ext cx="17830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16 regras de qualidade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P1 a P5 e veredito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notebooks 04 a 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Site do Ministério → Volume → bronze → silver → gold → qualidade e respostas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 regras ficam em módulos Python (scripts/) chamados pelos notebooks, e podem ser testadas fora do cluster. Catálogo workspace, esquema genz_alcool, Delta Lake, computação serverless.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estrela: a entrevista é o fato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840480" y="1965960"/>
            <a:ext cx="685800" cy="1691640"/>
          </a:xfrm>
          <a:prstGeom prst="line">
            <a:avLst/>
          </a:prstGeom>
          <a:noFill/>
          <a:ln w="19050">
            <a:solidFill>
              <a:srgbClr val="7FA7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3657600"/>
            <a:ext cx="685800" cy="914"/>
          </a:xfrm>
          <a:prstGeom prst="line">
            <a:avLst/>
          </a:prstGeom>
          <a:noFill/>
          <a:ln w="19050">
            <a:solidFill>
              <a:srgbClr val="7FA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840480" y="3657600"/>
            <a:ext cx="685800" cy="1691640"/>
          </a:xfrm>
          <a:prstGeom prst="line">
            <a:avLst/>
          </a:prstGeom>
          <a:noFill/>
          <a:ln w="19050">
            <a:solidFill>
              <a:srgbClr val="7FA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965960"/>
            <a:ext cx="640080" cy="1691640"/>
          </a:xfrm>
          <a:prstGeom prst="line">
            <a:avLst/>
          </a:prstGeom>
          <a:noFill/>
          <a:ln w="19050">
            <a:solidFill>
              <a:srgbClr val="7FA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657600"/>
            <a:ext cx="640080" cy="914"/>
          </a:xfrm>
          <a:prstGeom prst="line">
            <a:avLst/>
          </a:prstGeom>
          <a:noFill/>
          <a:ln w="19050">
            <a:solidFill>
              <a:srgbClr val="7FA7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680960" y="3657600"/>
            <a:ext cx="640080" cy="1691640"/>
          </a:xfrm>
          <a:prstGeom prst="line">
            <a:avLst/>
          </a:prstGeom>
          <a:noFill/>
          <a:ln w="19050">
            <a:solidFill>
              <a:srgbClr val="7FA7D9"/>
            </a:solidFill>
            <a:prstDash val="solid"/>
          </a:ln>
        </p:spPr>
      </p:sp>
      <p:sp>
        <p:nvSpPr>
          <p:cNvPr id="9" name="fato"/>
          <p:cNvSpPr/>
          <p:nvPr/>
        </p:nvSpPr>
        <p:spPr>
          <a:xfrm>
            <a:off x="4526280" y="1828800"/>
            <a:ext cx="3154680" cy="365760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965960"/>
            <a:ext cx="2788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fato_entrevista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423160"/>
            <a:ext cx="2788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615.877 linhas · grão: 1 entrevista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880360"/>
            <a:ext cx="2788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entrevista_id (D10)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6 chaves das dimensões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alcabu, bebe_mensal (0/1)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peso e peso_norm (D4)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idade, ano de nascimento, modo de coleta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linha_origem (linhagem)</a:t>
            </a:r>
            <a:endParaRPr lang="en-US" sz="1400" dirty="0"/>
          </a:p>
        </p:txBody>
      </p:sp>
      <p:sp>
        <p:nvSpPr>
          <p:cNvPr id="13" name="dim_edicao"/>
          <p:cNvSpPr/>
          <p:nvPr/>
        </p:nvSpPr>
        <p:spPr>
          <a:xfrm>
            <a:off x="548640" y="132588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7FA7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1399032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dim_edicao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14 edições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801368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ano, entrevistas, % celular, pandemia, filtro do álcool</a:t>
            </a:r>
            <a:endParaRPr lang="en-US" sz="1300" dirty="0"/>
          </a:p>
        </p:txBody>
      </p:sp>
      <p:sp>
        <p:nvSpPr>
          <p:cNvPr id="17" name="dim_geracao"/>
          <p:cNvSpPr/>
          <p:nvPr/>
        </p:nvSpPr>
        <p:spPr>
          <a:xfrm>
            <a:off x="548640" y="301752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7FA7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dim_geracao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4 linhas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493008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geração e anos de nascimento</a:t>
            </a:r>
            <a:endParaRPr lang="en-US" sz="1300" dirty="0"/>
          </a:p>
        </p:txBody>
      </p:sp>
      <p:sp>
        <p:nvSpPr>
          <p:cNvPr id="21" name="dim_escolaridade"/>
          <p:cNvSpPr/>
          <p:nvPr/>
        </p:nvSpPr>
        <p:spPr>
          <a:xfrm>
            <a:off x="548640" y="470916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7FA7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782312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dim_escolaridade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4800600"/>
            <a:ext cx="1005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3 linhas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184648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 a 8, 9 a 11, 12 anos e mais</a:t>
            </a:r>
            <a:endParaRPr lang="en-US" sz="1300" dirty="0"/>
          </a:p>
        </p:txBody>
      </p:sp>
      <p:sp>
        <p:nvSpPr>
          <p:cNvPr id="25" name="dim_capital"/>
          <p:cNvSpPr/>
          <p:nvPr/>
        </p:nvSpPr>
        <p:spPr>
          <a:xfrm>
            <a:off x="8321040" y="132588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7FA7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1399032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dim_capital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4698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27 capitais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1801368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capital, UF e região (D12)</a:t>
            </a:r>
            <a:endParaRPr lang="en-US" sz="1300" dirty="0"/>
          </a:p>
        </p:txBody>
      </p:sp>
      <p:sp>
        <p:nvSpPr>
          <p:cNvPr id="29" name="dim_faixa_etaria"/>
          <p:cNvSpPr/>
          <p:nvPr/>
        </p:nvSpPr>
        <p:spPr>
          <a:xfrm>
            <a:off x="8321040" y="301752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7FA7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58200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dim_faixa_etaria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469880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6 linhas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3493008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seis faixas do Vigitel</a:t>
            </a:r>
            <a:endParaRPr lang="en-US" sz="1300" dirty="0"/>
          </a:p>
        </p:txBody>
      </p:sp>
      <p:sp>
        <p:nvSpPr>
          <p:cNvPr id="33" name="dim_sexo"/>
          <p:cNvSpPr/>
          <p:nvPr/>
        </p:nvSpPr>
        <p:spPr>
          <a:xfrm>
            <a:off x="8321040" y="470916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7FA7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58200" y="4782312"/>
            <a:ext cx="21031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dim_sexo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469880" y="4800600"/>
            <a:ext cx="1005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2 linhas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5184648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masculino, feminino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Qualidade: 16 regras em seis dimensões, nenhuma violação</a:t>
            </a:r>
            <a:endParaRPr lang="en-US" sz="3000" dirty="0"/>
          </a:p>
        </p:txBody>
      </p:sp>
      <p:pic>
        <p:nvPicPr>
          <p:cNvPr id="3" name="18_nb04_checagens_qualidade.png" descr="18_nb04_checagens_qual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1605"/>
            <a:ext cx="7589520" cy="38375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12080"/>
            <a:ext cx="7589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Captura do notebook 04 no Databricks (21/10/2026): tabela qa_checagens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1325880"/>
            <a:ext cx="320040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Completude, unicidade, consistência, conformidade, acurácia e atualidade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Pulo das doses conferido em 100% dos casos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Peso normalizado soma 1 em cada edição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Informativas, não erros: 7.477 escolaridades estimadas, 35.280 entrevistas por celular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Perfil dos 28 atributos da silver: nulos, distintos, mínimo e máximo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Evidência: coleta e bronze persistidas no Databricks</a:t>
            </a:r>
            <a:endParaRPr lang="en-US" sz="3000" dirty="0"/>
          </a:p>
        </p:txBody>
      </p:sp>
      <p:pic>
        <p:nvPicPr>
          <p:cNvPr id="3" name="03_nb01_volume_sha256.png" descr="03_nb01_volume_sha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8958"/>
            <a:ext cx="6949440" cy="40143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03520"/>
            <a:ext cx="6949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Notebook 01: o ZIP no Volume, com tamanho e SHA-256 conferidos</a:t>
            </a:r>
            <a:endParaRPr lang="en-US" sz="1100" dirty="0"/>
          </a:p>
        </p:txBody>
      </p:sp>
      <p:pic>
        <p:nvPicPr>
          <p:cNvPr id="5" name="07_nb01_verificacao_bronze_833217.png" descr="07_nb01_verificacao_bronze_8332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46632"/>
            <a:ext cx="3749040" cy="39989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63840" y="5303520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Notebook 01: bronze com 833.217 linhas, as mesmas do CSV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Evidência: silver e gold consistentes</a:t>
            </a:r>
            <a:endParaRPr lang="en-US" sz="3000" dirty="0"/>
          </a:p>
        </p:txBody>
      </p:sp>
      <p:pic>
        <p:nvPicPr>
          <p:cNvPr id="3" name="09_nb02_verificacao_geracoes.png" descr="09_nb02_verificacao_ger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5015"/>
            <a:ext cx="6035040" cy="25134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794760"/>
            <a:ext cx="6035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Notebook 02: jovens de cada geração na silver e as edições em que aparecem</a:t>
            </a:r>
            <a:endParaRPr lang="en-US" sz="1100" dirty="0"/>
          </a:p>
        </p:txBody>
      </p:sp>
      <p:pic>
        <p:nvPicPr>
          <p:cNvPr id="5" name="15_nb03_estrela_consistente.png" descr="15_nb03_estrela_consist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693" y="1234440"/>
            <a:ext cx="4741494" cy="4160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0" y="5440680"/>
            <a:ext cx="4754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Notebook 03: a fato com as 6 dimensões reproduz as 615.877 linhas da silver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206240"/>
            <a:ext cx="60350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Millennials: 23.805 jovens; zillennials: 26.745; geração Z: 10.485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26 tabelas Delta persistidas no esquema genz_alcool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P1 a P5, robustez e veredito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série histórica não mostra queda entre os jovens</a:t>
            </a:r>
            <a:endParaRPr lang="en-US" sz="3000" dirty="0"/>
          </a:p>
        </p:txBody>
      </p:sp>
      <p:pic>
        <p:nvPicPr>
          <p:cNvPr id="3" name="f01_serie_faixa_etaria.png" descr="f01_serie_faixa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4796"/>
            <a:ext cx="7863840" cy="3837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0" y="1463040"/>
            <a:ext cx="29718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Jovens (azul): 21,9% em 2010 e 22,7% em 2024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Adultos de 35-44 (laranja) sobem mais no período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Faixa cinza: 2022 não existe; linha pontilhada: entra o celular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Ponto de partida, não resposta: a resposta vem por geração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P1. Na mesma idade, a geração Z não bebe menos</a:t>
            </a:r>
            <a:endParaRPr lang="en-US" sz="3000" dirty="0"/>
          </a:p>
        </p:txBody>
      </p:sp>
      <p:pic>
        <p:nvPicPr>
          <p:cNvPr id="3" name="f03_p1_geracoes.png" descr="f03_p1_ger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1957"/>
            <a:ext cx="6949440" cy="38027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63840" y="1463040"/>
            <a:ext cx="3749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+1,1 p.p.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geração Z em relação aos millennials, aos 18-24, padronizada pela idade (IC 95%: −1,1 a +3,3)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291840"/>
            <a:ext cx="37490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21,1% → 22,2% → 22,3%; nenhuma diferença significativa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Sem padronizar (círculo), aparecia −2,1 p.p.: a queda vinha da idade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Padronizada também pela escolaridade (losango): quase igual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P4. Sem separar os sexos, nada muda; separando, tudo muda</a:t>
            </a:r>
            <a:endParaRPr lang="en-US" sz="3000" dirty="0"/>
          </a:p>
        </p:txBody>
      </p:sp>
      <p:pic>
        <p:nvPicPr>
          <p:cNvPr id="3" name="f04_p4_convergencia_sexos.png" descr="f04_p4_convergencia_sex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1957"/>
            <a:ext cx="6949440" cy="38027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863840" y="1463040"/>
            <a:ext cx="3749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→ 3,5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p.p. de distância entre homens e mulheres, de millennials para geração Z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291840"/>
            <a:ext cx="37490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Homens: −4,0 p.p. (28,1% → 24,0%)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2"/>
                </a:solidFill>
              </a:rPr>
              <a:t>Mulheres: +6,4 p.p. (14,1% → 20,5%)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 dois movimentos se cancelam no total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muda: homens moderam, mais mulheres bebem</a:t>
            </a:r>
            <a:endParaRPr lang="en-US" sz="3000" dirty="0"/>
          </a:p>
        </p:txBody>
      </p:sp>
      <p:pic>
        <p:nvPicPr>
          <p:cNvPr id="3" name="f05_decomposicao.png" descr="f05_decomposi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393" y="1188720"/>
            <a:ext cx="7798734" cy="3611880"/>
          </a:xfrm>
          <a:prstGeom prst="rect">
            <a:avLst/>
          </a:prstGeom>
        </p:spPr>
      </p:pic>
      <p:sp>
        <p:nvSpPr>
          <p:cNvPr id="4" name="card_h"/>
          <p:cNvSpPr/>
          <p:nvPr/>
        </p:nvSpPr>
        <p:spPr>
          <a:xfrm>
            <a:off x="548640" y="489204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Homens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Quase o mesmo tanto bebe (43% → 41%); quem bebe exagera menos (65% → 58%)</a:t>
            </a:r>
            <a:endParaRPr lang="en-US" sz="1500" dirty="0"/>
          </a:p>
        </p:txBody>
      </p:sp>
      <p:sp>
        <p:nvSpPr>
          <p:cNvPr id="7" name="card_m"/>
          <p:cNvSpPr/>
          <p:nvPr/>
        </p:nvSpPr>
        <p:spPr>
          <a:xfrm>
            <a:off x="6263640" y="489204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Mulheres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Mais bebem (25% → 35%); o exagero entre quem bebe fica estável (56% → 58%)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P2. Por escolaridade, nenhuma diferença significativa</a:t>
            </a:r>
            <a:endParaRPr lang="en-US" sz="3000" dirty="0"/>
          </a:p>
        </p:txBody>
      </p:sp>
      <p:pic>
        <p:nvPicPr>
          <p:cNvPr id="3" name="f06_p2_escolaridade.png" descr="f06_p2_escolar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6561"/>
            <a:ext cx="7498080" cy="28105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21040" y="1463040"/>
            <a:ext cx="32918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 +0,6 a +2,0 p.p. nas três faixas, todas dentro da margem de erro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Sem os casos de escolaridade estimada (D8): mesmo resultado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Não há queda concentrada em nenhuma classe, nem queda ampla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P3. Os jovens subiram menos que a época</a:t>
            </a:r>
            <a:endParaRPr lang="en-US" sz="3000" dirty="0"/>
          </a:p>
        </p:txBody>
      </p:sp>
      <p:pic>
        <p:nvPicPr>
          <p:cNvPr id="3" name="f07_p3_jovens_x_adultos.png" descr="f07_p3_jovens_x_adul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4022"/>
            <a:ext cx="6766560" cy="31469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−2,7 p.p.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2331720"/>
            <a:ext cx="3931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jovens (+1,1) em relação aos adultos de 35-44 (+3,8) no mesmo período (IC 95%: −5,1 a −0,3)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Os jovens não beberam menos, mas cresceram menos que a tendência geral: um efeito relativo de geração, e não uma queda.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P3. Ao envelhecer, as curvas ficam paralelas</a:t>
            </a:r>
            <a:endParaRPr lang="en-US" sz="3000" dirty="0"/>
          </a:p>
        </p:txBody>
      </p:sp>
      <p:pic>
        <p:nvPicPr>
          <p:cNvPr id="3" name="f08_p3_envelhecimento.png" descr="f08_p3_envelheci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626" y="1234440"/>
            <a:ext cx="10646267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Homens zillennials: 1,4 p.p. abaixo dos millennials aos 18-24 (26,7% x 28,1%) e aos 25-29 (33,4% x 34,8%): curvas paralelas, sem sinal de adiamento. Mulheres zillennials acima nas duas faixas; a geração Z ainda é jovem demais.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P5. Nenhuma região muda de forma clara</a:t>
            </a:r>
            <a:endParaRPr lang="en-US" sz="3000" dirty="0"/>
          </a:p>
        </p:txBody>
      </p:sp>
      <p:pic>
        <p:nvPicPr>
          <p:cNvPr id="3" name="f09_p5_mapa_capitais.png" descr="f09_p5_mapa_capit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4564"/>
            <a:ext cx="5486400" cy="50089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Aracaju fora da margem de erro (−6,1 p.p.); com 27 capitais, uma é esperada só pelo acaso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Nenhuma região significativa (de −0,5 p.p. no Norte a +4,5 no Sul)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Dentro da margem: a maioria do Nordeste cai; Sul e Sudeste (exceto o Rio) sobem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Capital inconclusiva: usar a região como apoio (D9)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P5. Diferença e margem de erro por capital</a:t>
            </a:r>
            <a:endParaRPr lang="en-US" sz="3000" dirty="0"/>
          </a:p>
        </p:txBody>
      </p:sp>
      <p:pic>
        <p:nvPicPr>
          <p:cNvPr id="3" name="f10_p5_capitais.png" descr="f10_p5_capit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047" y="1143000"/>
            <a:ext cx="4753346" cy="5166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675120" y="1371600"/>
            <a:ext cx="493776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Diferença geração Z − millennials aos 18-24 anos, por capital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Azul: o intervalo de 95% não inclui o zero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Cerca de 390 jovens da geração Z por capital: margem de ±5 a 6 p.p.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 essa precisão, os dados não sustentam uma priorização regional de lançamento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Robustez: alta feminina firme, queda masculina frágil</a:t>
            </a:r>
            <a:endParaRPr lang="en-US" sz="3000" dirty="0"/>
          </a:p>
        </p:txBody>
      </p:sp>
      <p:pic>
        <p:nvPicPr>
          <p:cNvPr id="3" name="f11_sensibilidades.png" descr="f11_sensibili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5862"/>
            <a:ext cx="7315200" cy="37949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0" y="1463040"/>
            <a:ext cx="347472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Seis cenários e, na última linha, a leitura sem padronizar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2"/>
                </a:solidFill>
              </a:rPr>
              <a:t>Mulheres: +5,1 a +8,1 p.p., significativa em cinco dos seis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Homens: −2,4 a −4,1 p.p.; perde a significância aos 18-21, sem 2024 e só por fixo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Sem padronizar, a queda total aparecia: era efeito da idade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Veredito: hipótese refutada no que tem de central</a:t>
            </a:r>
            <a:endParaRPr lang="en-US" sz="3000" dirty="0"/>
          </a:p>
        </p:txBody>
      </p:sp>
      <p:sp>
        <p:nvSpPr>
          <p:cNvPr id="3" name="criterio_0"/>
          <p:cNvSpPr/>
          <p:nvPr/>
        </p:nvSpPr>
        <p:spPr>
          <a:xfrm>
            <a:off x="548640" y="1371600"/>
            <a:ext cx="110642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18488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08760"/>
            <a:ext cx="9692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(a) Na mesma idade, a prevalência da geração Z é menor que a dos millennials?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9692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Não: +1,1 p.p. (−1,1 a +3,3)</a:t>
            </a:r>
            <a:endParaRPr lang="en-US" sz="1500" dirty="0"/>
          </a:p>
        </p:txBody>
      </p:sp>
      <p:sp>
        <p:nvSpPr>
          <p:cNvPr id="8" name="criterio_1"/>
          <p:cNvSpPr/>
          <p:nvPr/>
        </p:nvSpPr>
        <p:spPr>
          <a:xfrm>
            <a:off x="548640" y="2697480"/>
            <a:ext cx="110642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44368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44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✗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834640"/>
            <a:ext cx="9692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(b) A queda ocorre nos dois sexos e nas três faixas de escolaridade?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91840"/>
            <a:ext cx="9692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Não: homens −4,0; mulheres +6,4; nenhuma faixa de escolaridade cai</a:t>
            </a:r>
            <a:endParaRPr lang="en-US" sz="1500" dirty="0"/>
          </a:p>
        </p:txBody>
      </p:sp>
      <p:sp>
        <p:nvSpPr>
          <p:cNvPr id="13" name="criterio_2"/>
          <p:cNvSpPr/>
          <p:nvPr/>
        </p:nvSpPr>
        <p:spPr>
          <a:xfrm>
            <a:off x="548640" y="4023360"/>
            <a:ext cx="110642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70248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70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160520"/>
            <a:ext cx="9692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(c) Os jovens mudam de forma diferente da tendência geral (adultos de 35-44)?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617720"/>
            <a:ext cx="9692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Sim: jovens +1,1 contra adultos +3,8 (diferença de −2,7; IC −5,1 a −0,3)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mesma idade, a geração Z não bebe menos: os sexos é que convergem.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anda junto com o consumo abusivo entre jovens</a:t>
            </a:r>
            <a:endParaRPr lang="en-US" sz="3000" dirty="0"/>
          </a:p>
        </p:txBody>
      </p:sp>
      <p:pic>
        <p:nvPicPr>
          <p:cNvPr id="3" name="f13_correlatos.png" descr="f13_correl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38" y="1188720"/>
            <a:ext cx="5818163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675120" y="1371600"/>
            <a:ext cx="493776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21 características do Vigitel, ajustadas por sexo e edição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Cigarro e vape: +38 e +34 p.p.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Depressão: +8 p.p. só entre os jovens (nos adultos, zero)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Tela 3h+/dia: +7 p.p. (o celular não substitui o bar)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Hipertensão, diabetes, inatividade: sem associação, como esperado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i="1" dirty="0">
                <a:solidFill>
                  <a:schemeClr val="accent2"/>
                </a:solidFill>
              </a:rPr>
              <a:t>Associação não é causa; com 21 testes, ~1 pode ser acaso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destaques, em números brutos</a:t>
            </a:r>
            <a:endParaRPr lang="en-US" sz="3000" dirty="0"/>
          </a:p>
        </p:txBody>
      </p:sp>
      <p:pic>
        <p:nvPicPr>
          <p:cNvPr id="3" name="f14_correlatos_destaque.png" descr="f14_correlatos_desta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112" y="1143000"/>
            <a:ext cx="10023296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Em cada painel: “não” = jovens sem a característica; “sim” = com a característica. A barra é a % do grupo com consumo abusivo.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5303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623560"/>
            <a:ext cx="5303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jovens que usam cigarro eletrônico bebem em excesso (20% de quem não usa)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754880"/>
            <a:ext cx="5303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5623560"/>
            <a:ext cx="5303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quem passa 3h+ por dia em telas no lazer (18% de quem passa menos)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O que os números dizem sobre o problema de negócio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lições de método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−2,1 → +1,1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94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p.p., geração Z − millennials: sem padronizar e padronizando pela idade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234440"/>
            <a:ext cx="5394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−4,0 e +6,4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103120"/>
            <a:ext cx="5394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p.p., homens e mulheres: dois movimentos que se cancelam no total</a:t>
            </a:r>
            <a:endParaRPr lang="en-US" sz="1400" dirty="0"/>
          </a:p>
        </p:txBody>
      </p:sp>
      <p:sp>
        <p:nvSpPr>
          <p:cNvPr id="7" name="card_licao1"/>
          <p:cNvSpPr/>
          <p:nvPr/>
        </p:nvSpPr>
        <p:spPr>
          <a:xfrm>
            <a:off x="548640" y="29718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Padronizar públicos diferentes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Mesma base, mesmo indicador, vereditos opostos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geração Z parecia beber menos só por ter sido entrevistada mais nova</a:t>
            </a:r>
            <a:endParaRPr lang="en-US" sz="1600" dirty="0"/>
          </a:p>
        </p:txBody>
      </p:sp>
      <p:sp>
        <p:nvSpPr>
          <p:cNvPr id="10" name="card_licao2"/>
          <p:cNvSpPr/>
          <p:nvPr/>
        </p:nvSpPr>
        <p:spPr>
          <a:xfrm>
            <a:off x="6263640" y="29718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 agregado esconde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65760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Total: sem diferença entre as gerações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Homens: queda leve e frágil; mulheres: alta robusta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Antes de aceitar uma manchete como “a geração Z bebe menos”, é preciso perguntar: comparada na mesma idade? e dentro de quais grupos?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 para as duas decisões</a:t>
            </a:r>
            <a:endParaRPr lang="en-US" sz="3000" dirty="0"/>
          </a:p>
        </p:txBody>
      </p:sp>
      <p:sp>
        <p:nvSpPr>
          <p:cNvPr id="3" name="card_dec1"/>
          <p:cNvSpPr/>
          <p:nvPr/>
        </p:nvSpPr>
        <p:spPr>
          <a:xfrm>
            <a:off x="548640" y="137160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Decisão 1: nicho ou massa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377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Nenhuma faixa de escolaridade bebe menos. A premissa das duas opções (uma queda do consumo) não aparece. A moderação dos homens que bebem aponta mais para baixo teor do que para a substituição do álcool, mas é um sinal frágil.</a:t>
            </a:r>
            <a:endParaRPr lang="en-US" sz="1700" dirty="0"/>
          </a:p>
        </p:txBody>
      </p:sp>
      <p:sp>
        <p:nvSpPr>
          <p:cNvPr id="6" name="card_dec2"/>
          <p:cNvSpPr/>
          <p:nvPr/>
        </p:nvSpPr>
        <p:spPr>
          <a:xfrm>
            <a:off x="6263640" y="137160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Decisão 2: estrutural ou fase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9377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Nos homens millennials e zillennials, as curvas são paralelas ao envelhecer: a mudança acompanha a geração, sem adiamento. A geração Z ainda não pode ser acompanhada; a resposta fica para as próximas edições.</a:t>
            </a:r>
            <a:endParaRPr lang="en-US" sz="1700" dirty="0"/>
          </a:p>
        </p:txBody>
      </p:sp>
      <p:sp>
        <p:nvSpPr>
          <p:cNvPr id="9" name="card_saude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Saúde pública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alta robusta entre as jovens indica que a prevenção ao consumo abusivo não pode mais tomar o público masculino como o único foco.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Recomendação: esperar mais dados antes de investir pesado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A manchete não se confirma no Brasil, e o custo de agir com base nela é exatamente o erro que o projeto queria evitar.</a:t>
            </a:r>
            <a:endParaRPr lang="en-US" sz="1800" dirty="0"/>
          </a:p>
        </p:txBody>
      </p:sp>
      <p:sp>
        <p:nvSpPr>
          <p:cNvPr id="4" name="rec_0"/>
          <p:cNvSpPr/>
          <p:nvPr/>
        </p:nvSpPr>
        <p:spPr>
          <a:xfrm>
            <a:off x="548640" y="224028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063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Confirmar com outras fontes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23360"/>
            <a:ext cx="30632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Além de pesquisa e autorrelato: dados de vendas e de volume (varejo, POF do IBGE, dados da própria empresa).</a:t>
            </a:r>
            <a:endParaRPr lang="en-US" sz="1500" dirty="0"/>
          </a:p>
        </p:txBody>
      </p:sp>
      <p:sp>
        <p:nvSpPr>
          <p:cNvPr id="9" name="rec_1"/>
          <p:cNvSpPr/>
          <p:nvPr/>
        </p:nvSpPr>
        <p:spPr>
          <a:xfrm>
            <a:off x="4315968" y="224028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2468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3246120"/>
            <a:ext cx="3063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quantidade, não só exagero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4023360"/>
            <a:ext cx="30632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Investigar a relação entre consumo abusivo e quantidade consumida: o mercado é definido pelo volume.</a:t>
            </a:r>
            <a:endParaRPr lang="en-US" sz="1500" dirty="0"/>
          </a:p>
        </p:txBody>
      </p:sp>
      <p:sp>
        <p:nvSpPr>
          <p:cNvPr id="14" name="rec_2"/>
          <p:cNvSpPr/>
          <p:nvPr/>
        </p:nvSpPr>
        <p:spPr>
          <a:xfrm>
            <a:off x="8083296" y="224028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11896" y="2468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189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3246120"/>
            <a:ext cx="3063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Olhar para as jovens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4023360"/>
            <a:ext cx="30632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mudança mais robusta da série: oportunidade de mercado e alerta de saúde pública.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Até onde os números permitem 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modo de coleta muda a resposta</a:t>
            </a:r>
            <a:endParaRPr lang="en-US" sz="3000" dirty="0"/>
          </a:p>
        </p:txBody>
      </p:sp>
      <p:pic>
        <p:nvPicPr>
          <p:cNvPr id="3" name="f12_modo_coleta_2023.png" descr="f12_modo_coleta_2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8147"/>
            <a:ext cx="6766560" cy="41103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+11,5 p.p.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2331720"/>
            <a:ext cx="3931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diferença entre celular e fixo no mesmo ano (2023), todas as idades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3383280"/>
            <a:ext cx="39319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Quem tem fixo é outro público (mais velho, casa estruturada)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celular a pessoa responde sozinha, sem a família por perto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Só a geração Z tem celular: a sensibilidade só por fixo reduz a alta feminina para +2,7 (n.s.)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dos dados e do desenho</a:t>
            </a:r>
            <a:endParaRPr lang="en-US" sz="3000" dirty="0"/>
          </a:p>
        </p:txBody>
      </p:sp>
      <p:sp>
        <p:nvSpPr>
          <p:cNvPr id="3" name="lim_alcance"/>
          <p:cNvSpPr/>
          <p:nvPr/>
        </p:nvSpPr>
        <p:spPr>
          <a:xfrm>
            <a:off x="548640" y="128016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Alcance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377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Só capitais e Distrito Federal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Recortes de geração do Pew, pensados para os EUA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Não testa a manchete fora do Brasil</a:t>
            </a:r>
            <a:endParaRPr lang="en-US" sz="1400" dirty="0"/>
          </a:p>
        </p:txBody>
      </p:sp>
      <p:sp>
        <p:nvSpPr>
          <p:cNvPr id="6" name="lim_medida"/>
          <p:cNvSpPr/>
          <p:nvPr/>
        </p:nvSpPr>
        <p:spPr>
          <a:xfrm>
            <a:off x="6263640" y="128016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Medida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65960"/>
            <a:ext cx="49377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Autorrelato por telefone (desejabilidade social)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Prevalência, não volume nem tipo de bebida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Escolaridade no lugar de renda</a:t>
            </a:r>
            <a:endParaRPr lang="en-US" sz="1400" dirty="0"/>
          </a:p>
        </p:txBody>
      </p:sp>
      <p:sp>
        <p:nvSpPr>
          <p:cNvPr id="9" name="lim_coleta"/>
          <p:cNvSpPr/>
          <p:nvPr/>
        </p:nvSpPr>
        <p:spPr>
          <a:xfrm>
            <a:off x="548640" y="384048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Coleta e amostra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26280"/>
            <a:ext cx="49377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Celular só na geração 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Quem não responde não aparece (possível MNAR)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 2022; pandemia em 2020-2021</a:t>
            </a:r>
            <a:endParaRPr lang="en-US" sz="1400" dirty="0"/>
          </a:p>
        </p:txBody>
      </p:sp>
      <p:sp>
        <p:nvSpPr>
          <p:cNvPr id="12" name="lim_desenho"/>
          <p:cNvSpPr/>
          <p:nvPr/>
        </p:nvSpPr>
        <p:spPr>
          <a:xfrm>
            <a:off x="6263640" y="384048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Desenho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26280"/>
            <a:ext cx="49377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Idade, geração e época não se separam por completo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Poucos casos por capital: n.s. = “não deu para afirmar”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Muitos testes (21 correlatos, 27 capitais)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Autoavaliação: o que foi respondido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Respondida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 mesma idade, sem queda; correta só depois da D14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Respondida, com poder limitado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nenhuma faixa cai; vale para escolaridade, não renda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Respondida em parte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geração Z ainda não chegou aos 25-29 anos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Respondida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convergência dos sexos: alta feminina robusta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Pouco conclusiva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capital fora da margem, compatível com acaso</a:t>
            </a:r>
            <a:endParaRPr lang="en-US" sz="1400" dirty="0"/>
          </a:p>
        </p:txBody>
      </p:sp>
      <p:sp>
        <p:nvSpPr>
          <p:cNvPr id="23" name="card_dif"/>
          <p:cNvSpPr/>
          <p:nvPr/>
        </p:nvSpPr>
        <p:spPr>
          <a:xfrm>
            <a:off x="6263640" y="128016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Dificuldades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1965960"/>
            <a:ext cx="493776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Limites do Free Edition: a bronze precisou ser gravada em lotes de 20 mil linhas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Tempo de execução: só a bronze levou cerca de 5 minutos; cada ajuste exigia rodar a cadeia de novo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Refazer resultados, figuras e apresentação depois da D14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faria diferente e os próximos passos</a:t>
            </a:r>
            <a:endParaRPr lang="en-US" sz="3000" dirty="0"/>
          </a:p>
        </p:txBody>
      </p:sp>
      <p:sp>
        <p:nvSpPr>
          <p:cNvPr id="3" name="card_dif2"/>
          <p:cNvSpPr/>
          <p:nvPr/>
        </p:nvSpPr>
        <p:spPr>
          <a:xfrm>
            <a:off x="548640" y="128016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 recomeçasse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37760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Definir a comparação por geração e na mesma idade desde o objetivo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Levantar as mudanças de método da pesquisa no primeiro dia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Levar o pipeline ao Databricks mais cedo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Fixar antes quais testes seriam feitos</a:t>
            </a:r>
            <a:endParaRPr lang="en-US" sz="1700" dirty="0"/>
          </a:p>
        </p:txBody>
      </p:sp>
      <p:sp>
        <p:nvSpPr>
          <p:cNvPr id="6" name="card_ext"/>
          <p:cNvSpPr/>
          <p:nvPr/>
        </p:nvSpPr>
        <p:spPr>
          <a:xfrm>
            <a:off x="6263640" y="128016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Para uso contínuo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65960"/>
            <a:ext cx="4937760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Job do Databricks a cada nova edição, com a qualidade bloqueando a carga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Painel para o decisor, com a margem de erro sempre visível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Juntar PNS, PeNSE e dados de vendas e volume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Modelo idade-período-coorte e a geração Z aos 25-29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geração Z bebe menos? Na mesma idade, não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Homens −4 p.p., mulheres +6 p.p.: os sexos convergem; sem diferença por classe. Antes de investir, mais dados.</a:t>
            </a:r>
            <a:endParaRPr lang="en-US" sz="18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Obrigado. 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racao Z e Alcool">
  <a:themeElements>
    <a:clrScheme name="Geracao Z e Alcool">
      <a:dk1>
        <a:srgbClr val="1B1F24"/>
      </a:dk1>
      <a:lt1>
        <a:srgbClr val="FFFFFF"/>
      </a:lt1>
      <a:dk2>
        <a:srgbClr val="0F2A4A"/>
      </a:dk2>
      <a:lt2>
        <a:srgbClr val="EEF2F7"/>
      </a:lt2>
      <a:accent1>
        <a:srgbClr val="1F5FAE"/>
      </a:accent1>
      <a:accent2>
        <a:srgbClr val="EB6834"/>
      </a:accent2>
      <a:accent3>
        <a:srgbClr val="7FA7D9"/>
      </a:accent3>
      <a:accent4>
        <a:srgbClr val="B8B6AD"/>
      </a:accent4>
      <a:accent5>
        <a:srgbClr val="C0392B"/>
      </a:accent5>
      <a:accent6>
        <a:srgbClr val="2E7D32"/>
      </a:accent6>
      <a:hlink>
        <a:srgbClr val="1F5FAE"/>
      </a:hlink>
      <a:folHlink>
        <a:srgbClr val="6B4FA0"/>
      </a:folHlink>
    </a:clrScheme>
    <a:fontScheme name="Geracao Z e Alcoo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Geração Z e álcool: a geração Z bebe menos?</dc:title>
  <dc:subject>PptxGenJS Presentation</dc:subject>
  <dc:creator>Guilherme Augusto Fontes Cunha</dc:creator>
  <cp:lastModifiedBy>Guilherme Augusto Fontes Cunha</cp:lastModifiedBy>
  <cp:revision>1</cp:revision>
  <dcterms:created xsi:type="dcterms:W3CDTF">2026-10-21T22:50:37Z</dcterms:created>
  <dcterms:modified xsi:type="dcterms:W3CDTF">2026-10-21T22:50:37Z</dcterms:modified>
</cp:coreProperties>
</file>